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edfa37283b45cb" /><Relationship Type="http://schemas.openxmlformats.org/officeDocument/2006/relationships/extended-properties" Target="/docProps/app.xml" Id="R6c3fc11fcf554740" /><Relationship Type="http://schemas.openxmlformats.org/officeDocument/2006/relationships/officeDocument" Target="/ppt/presentation.xml" Id="R24f59d0f5f6d4573" /></Relationships>
</file>

<file path=ppt/presentation.xml><?xml version="1.0" encoding="utf-8"?>
<p:presentation xmlns:p="http://schemas.openxmlformats.org/presentationml/2006/main">
  <p:sldMasterIdLst>
    <p:sldMasterId xmlns:r="http://schemas.openxmlformats.org/officeDocument/2006/relationships" id="2147483648" r:id="R5b6ac8d85f1d4e34"/>
  </p:sldMasterIdLst>
  <p:notesMasterIdLst>
    <p:notesMasterId xmlns:r="http://schemas.openxmlformats.org/officeDocument/2006/relationships" r:id="R1c5f36d6d4704112"/>
  </p:notesMasterIdLst>
  <p:sldIdLst>
    <p:sldId xmlns:r="http://schemas.openxmlformats.org/officeDocument/2006/relationships" id="256" r:id="Re388f85463ca46e1"/>
    <p:sldId xmlns:r="http://schemas.openxmlformats.org/officeDocument/2006/relationships" id="257" r:id="Rf74ba3134d3946a8"/>
    <p:sldId xmlns:r="http://schemas.openxmlformats.org/officeDocument/2006/relationships" id="258" r:id="R4b99eb18bc3b4b44"/>
    <p:sldId xmlns:r="http://schemas.openxmlformats.org/officeDocument/2006/relationships" id="259" r:id="Rc79efdb14d794346"/>
    <p:sldId xmlns:r="http://schemas.openxmlformats.org/officeDocument/2006/relationships" id="260" r:id="R5d29089929a04fb8"/>
    <p:sldId xmlns:r="http://schemas.openxmlformats.org/officeDocument/2006/relationships" id="261" r:id="R05d88dd151a84c9f"/>
    <p:sldId xmlns:r="http://schemas.openxmlformats.org/officeDocument/2006/relationships" id="262" r:id="Raa1a1274925242f9"/>
    <p:sldId xmlns:r="http://schemas.openxmlformats.org/officeDocument/2006/relationships" id="263" r:id="R9b28491e900e4064"/>
    <p:sldId xmlns:r="http://schemas.openxmlformats.org/officeDocument/2006/relationships" id="264" r:id="R9aa6131a66ec4b9c"/>
    <p:sldId xmlns:r="http://schemas.openxmlformats.org/officeDocument/2006/relationships" id="265" r:id="R6aca178886c24eff"/>
    <p:sldId xmlns:r="http://schemas.openxmlformats.org/officeDocument/2006/relationships" id="266" r:id="R5a0f89bc4c8e4614"/>
    <p:sldId xmlns:r="http://schemas.openxmlformats.org/officeDocument/2006/relationships" id="267" r:id="R0b1dcc26693f499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2b948006f144c4" /><Relationship Type="http://schemas.openxmlformats.org/officeDocument/2006/relationships/slideMaster" Target="/ppt/slideMasters/slideMaster1.xml" Id="R5b6ac8d85f1d4e34" /><Relationship Type="http://schemas.openxmlformats.org/officeDocument/2006/relationships/notesMaster" Target="/ppt/notesMasters/notesMaster1.xml" Id="R1c5f36d6d4704112" /><Relationship Type="http://schemas.openxmlformats.org/officeDocument/2006/relationships/presProps" Target="/ppt/presProps.xml" Id="Rd86e637ded4845df" /><Relationship Type="http://schemas.openxmlformats.org/officeDocument/2006/relationships/tableStyles" Target="/ppt/tableStyles.xml" Id="Rb36eeef0937443d0" /><Relationship Type="http://schemas.openxmlformats.org/officeDocument/2006/relationships/slide" Target="/ppt/slides/slide1.xml" Id="Re388f85463ca46e1" /><Relationship Type="http://schemas.openxmlformats.org/officeDocument/2006/relationships/slide" Target="/ppt/slides/slide2.xml" Id="Rf74ba3134d3946a8" /><Relationship Type="http://schemas.openxmlformats.org/officeDocument/2006/relationships/slide" Target="/ppt/slides/slide3.xml" Id="R4b99eb18bc3b4b44" /><Relationship Type="http://schemas.openxmlformats.org/officeDocument/2006/relationships/slide" Target="/ppt/slides/slide4.xml" Id="Rc79efdb14d794346" /><Relationship Type="http://schemas.openxmlformats.org/officeDocument/2006/relationships/slide" Target="/ppt/slides/slide5.xml" Id="R5d29089929a04fb8" /><Relationship Type="http://schemas.openxmlformats.org/officeDocument/2006/relationships/slide" Target="/ppt/slides/slide6.xml" Id="R05d88dd151a84c9f" /><Relationship Type="http://schemas.openxmlformats.org/officeDocument/2006/relationships/slide" Target="/ppt/slides/slide7.xml" Id="Raa1a1274925242f9" /><Relationship Type="http://schemas.openxmlformats.org/officeDocument/2006/relationships/slide" Target="/ppt/slides/slide8.xml" Id="R9b28491e900e4064" /><Relationship Type="http://schemas.openxmlformats.org/officeDocument/2006/relationships/slide" Target="/ppt/slides/slide9.xml" Id="R9aa6131a66ec4b9c" /><Relationship Type="http://schemas.openxmlformats.org/officeDocument/2006/relationships/slide" Target="/ppt/slides/slide10.xml" Id="R6aca178886c24eff" /><Relationship Type="http://schemas.openxmlformats.org/officeDocument/2006/relationships/slide" Target="/ppt/slides/slide11.xml" Id="R5a0f89bc4c8e4614" /><Relationship Type="http://schemas.openxmlformats.org/officeDocument/2006/relationships/slide" Target="/ppt/slides/slide12.xml" Id="R0b1dcc26693f49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b595ae990746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391e565d0142cb" /><Relationship Type="http://schemas.openxmlformats.org/officeDocument/2006/relationships/notesMaster" Target="/ppt/notesMasters/notesMaster1.xml" Id="Rf38e8cef76da4f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10f6581a8d48ef" /><Relationship Type="http://schemas.openxmlformats.org/officeDocument/2006/relationships/notesMaster" Target="/ppt/notesMasters/notesMaster1.xml" Id="R84d12f561f8e45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197412d4584eab" /><Relationship Type="http://schemas.openxmlformats.org/officeDocument/2006/relationships/notesMaster" Target="/ppt/notesMasters/notesMaster1.xml" Id="R11c94e76154a4d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76b51fb5c346f8" /><Relationship Type="http://schemas.openxmlformats.org/officeDocument/2006/relationships/notesMaster" Target="/ppt/notesMasters/notesMaster1.xml" Id="R7c6b51faf2b54c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d7f7874a0541b6" /><Relationship Type="http://schemas.openxmlformats.org/officeDocument/2006/relationships/notesMaster" Target="/ppt/notesMasters/notesMaster1.xml" Id="R4b253a7e96d34d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cdfaa6d1744b9d" /><Relationship Type="http://schemas.openxmlformats.org/officeDocument/2006/relationships/notesMaster" Target="/ppt/notesMasters/notesMaster1.xml" Id="R35fef26289a541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68b5d4f3484340" /><Relationship Type="http://schemas.openxmlformats.org/officeDocument/2006/relationships/notesMaster" Target="/ppt/notesMasters/notesMaster1.xml" Id="Ra36118caa0114a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b5ec51a8ae427a" /><Relationship Type="http://schemas.openxmlformats.org/officeDocument/2006/relationships/notesMaster" Target="/ppt/notesMasters/notesMaster1.xml" Id="R9fae838cc3914d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7ff0abd0544bb8" /><Relationship Type="http://schemas.openxmlformats.org/officeDocument/2006/relationships/notesMaster" Target="/ppt/notesMasters/notesMaster1.xml" Id="R1c911fd0a9524c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cf03e41b4f40a6" /><Relationship Type="http://schemas.openxmlformats.org/officeDocument/2006/relationships/notesMaster" Target="/ppt/notesMasters/notesMaster1.xml" Id="R1948994387de48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10fd714fb54de0" /><Relationship Type="http://schemas.openxmlformats.org/officeDocument/2006/relationships/notesMaster" Target="/ppt/notesMasters/notesMaster1.xml" Id="R329902a2876847e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44705301c04a5d" /><Relationship Type="http://schemas.openxmlformats.org/officeDocument/2006/relationships/notesMaster" Target="/ppt/notesMasters/notesMaster1.xml" Id="Raa180c0133c14a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used the six supplied stock files to compare historical price trends and apply a 20/50-day moving-average crossover rule. My submission includes the MySQL analysis, an insights report and a walkthrough video. The Streamlit app lets me inspect the evidence and run SQL against the same records. The data is historical and ends on 31 July 2018. Price change here excludes dividend reinvestment.</a:t>
            </a:r>
          </a:p>
          <a:p xmlns:a="http://schemas.openxmlformats.org/drawingml/2006/main">
            <a:r>
              <a:t/>
            </a:r>
          </a:p>
          <a:p xmlns:a="http://schemas.openxmlformats.org/drawingml/2006/main">
            <a:r>
              <a:t>Sources</a:t>
            </a:r>
          </a:p>
          <a:p xmlns:a="http://schemas.openxmlformats.org/drawingml/2006/main">
            <a:r>
              <a:t>Supplied student guide, page 2.</a:t>
            </a:r>
          </a:p>
          <a:p xmlns:a="http://schemas.openxmlformats.org/drawingml/2006/main">
            <a:r>
              <a:t>Original dashboard capture: 01_Overview.png.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thirteen rows map directly to the student guide. Task 1 finds coverage with COUNT, MIN and MAX. Task 2 orders Eicher closing prices from highest to lowest and returns five rows. The five peaks are INR 32,786.40 on 7 September 2017, 32,763.85 on 18 September, 32,628.70 on 8 September, 32,582.30 on 12 September, and 32,466.75 on 11 September. Task 3 groups TCS by year. Its raw annual averages are INR 2,537.39 for 2015, 2,419.00 for 2016, 2,475.36 for 2017 and 2,729.12 for the partial 2018 period. The 2018 mean mixes pre- and post-bonus price bases, so I do not treat it as proof of the best year.</a:t>
            </a:r>
          </a:p>
          <a:p xmlns:a="http://schemas.openxmlformats.org/drawingml/2006/main">
            <a:r>
              <a:t/>
            </a:r>
          </a:p>
          <a:p xmlns:a="http://schemas.openxmlformats.org/drawingml/2006/main">
            <a:r>
              <a:t>Task 4 retains empty delivery fields as NULL. Tasks 5-7 create bajaj1, master_table and bajaj2. The script starts each created table with DROP TABLE IF EXISTS and embeds the source records, so it runs from top to bottom on a fresh database and can be rerun. Task 9 also defines bajaj_signal(d) in MySQL. The SQLite playground uses an equivalent SELECT lookup because SQLite has no stored SQL-function syntax. Tasks 10-13 compare all stocks and correct the two bonus events. Additional SQL tasks 14-17 calculate adjusted crossovers, changed events, quick reversals and risk. The playground also has preset 18 for selected dashboard rows.</a:t>
            </a:r>
          </a:p>
          <a:p xmlns:a="http://schemas.openxmlformats.org/drawingml/2006/main">
            <a:r>
              <a:t/>
            </a:r>
          </a:p>
          <a:p xmlns:a="http://schemas.openxmlformats.org/drawingml/2006/main">
            <a:r>
              <a:t>The MySQL script ran twice on MySQL 8.0.46. The project has 17 passing automated test cases, including independent checks of the calculations.</a:t>
            </a:r>
          </a:p>
          <a:p xmlns:a="http://schemas.openxmlformats.org/drawingml/2006/main">
            <a:r>
              <a:t/>
            </a:r>
          </a:p>
          <a:p xmlns:a="http://schemas.openxmlformats.org/drawingml/2006/main">
            <a:r>
              <a:t>Sources</a:t>
            </a:r>
          </a:p>
          <a:p xmlns:a="http://schemas.openxmlformats.org/drawingml/2006/main">
            <a:r>
              <a:t>Supplied student guide, tasks 1-13 and submission checklist, pages 2 and 19.</a:t>
            </a:r>
          </a:p>
          <a:p xmlns:a="http://schemas.openxmlformats.org/drawingml/2006/main">
            <a:r>
              <a:t>sql/Stock_Market_Analysis_MySQL.sql</a:t>
            </a:r>
          </a:p>
          <a:p xmlns:a="http://schemas.openxmlformats.org/drawingml/2006/main">
            <a:r>
              <a:t>reports/query_results/task_01.csv to task_17.csv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loaded the six CSVs into typed tables, converted dates to ISO format and checked that all stocks have the same calendar. The original columns are date, open_price, high_price, low_price, close_price, wap, no_of_shares, no_of_trades, total_turnover, deliverable_qty, pct_deli_qty, spread_high_low and spread_close_open. I found no duplicate date keys, missing closing prices, non-positive closing prices or inconsistent OHLC ordering. Missing delivery quantities and their percentages occur on 31 August 2017 for Bajaj and Infosys, and on 9 December 2015 for Eicher, Hero, TCS and TVS. I kept those six records as NULL.</a:t>
            </a:r>
          </a:p>
          <a:p xmlns:a="http://schemas.openxmlformats.org/drawingml/2006/main">
            <a:r>
              <a:t/>
            </a:r>
          </a:p>
          <a:p xmlns:a="http://schemas.openxmlformats.org/drawingml/2006/main">
            <a:r>
              <a:t>The data page includes missing-record inspection, a stock/date text search, a preview of up to 300 rows, a CSV with every matching row and a download of the SQLite database. It also links to the source documentation and downloadable submission files. The core stack is Python, MySQL 8, SQLite, Streamlit, pandas and Plotly. SQL produces the analysis, Python handles loading, the interface and the explicitly modeled execution scenario. source_rows validates the original CSVs, build_connection creates the database, and database_bytes caches the database using dataset_fingerprint as its cache key. build_project.py regenerates the SQL files, database and query exports.</a:t>
            </a:r>
          </a:p>
          <a:p xmlns:a="http://schemas.openxmlformats.org/drawingml/2006/main">
            <a:r>
              <a:t/>
            </a:r>
          </a:p>
          <a:p xmlns:a="http://schemas.openxmlformats.org/drawingml/2006/main">
            <a:r>
              <a:t>Sources</a:t>
            </a:r>
          </a:p>
          <a:p xmlns:a="http://schemas.openxmlformats.org/drawingml/2006/main">
            <a:r>
              <a:t>reports/data_profile.json</a:t>
            </a:r>
          </a:p>
          <a:p xmlns:a="http://schemas.openxmlformats.org/drawingml/2006/main">
            <a:r>
              <a:t>engine.py: source_rows, build_connection and dataset_fingerprint</a:t>
            </a:r>
          </a:p>
          <a:p xmlns:a="http://schemas.openxmlformats.org/drawingml/2006/main">
            <a:r>
              <a:t>User screenshot 071235 and video screenshot 07_Data_Downloads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overview shows the number of selected stocks, trading dates, best first-to-last price change and the total number of crossover events. The line chart rebases each stock to 100 at its first selected close. The bar chart ranks first-to-last close changes for the selected period. The summary table includes first and last closes, change, Buy and Sell counts, latest crossover date and direction, and the final moving-average regime. I can download that summary as CSV.</a:t>
            </a:r>
          </a:p>
          <a:p xmlns:a="http://schemas.openxmlformats.org/drawingml/2006/main">
            <a:r>
              <a:t/>
            </a:r>
          </a:p>
          <a:p xmlns:a="http://schemas.openxmlformats.org/drawingml/2006/main">
            <a:r>
              <a:t>The adjusted basis corrects the two known bonus issues. Raw prices remain available for the original assignment checks. The moving-average windows are calculated before filtering dates, so changing the visible range does not restart the averages. Drawdown also retains its full-history peak. An empty stock selection or a date interval without records displays an explanatory message. The latest crossover differs from the event on the final visible day. Each stock has Hold on the final dataset date, although its latest crossover can still be Buy or Sell.</a:t>
            </a:r>
          </a:p>
          <a:p xmlns:a="http://schemas.openxmlformats.org/drawingml/2006/main">
            <a:r>
              <a:t/>
            </a:r>
          </a:p>
          <a:p xmlns:a="http://schemas.openxmlformats.org/drawingml/2006/main">
            <a:r>
              <a:t>Relevant functions: filtered_rows applies the selection after analytics, filtered_summary computes the selected endpoints and latest event, rebased_rows calculates the indexed close, reset_filters restores the default selection, and render_overview builds this page.</a:t>
            </a:r>
          </a:p>
          <a:p xmlns:a="http://schemas.openxmlformats.org/drawingml/2006/main">
            <a:r>
              <a:t/>
            </a:r>
          </a:p>
          <a:p xmlns:a="http://schemas.openxmlformats.org/drawingml/2006/main">
            <a:r>
              <a:t>Sources</a:t>
            </a:r>
          </a:p>
          <a:p xmlns:a="http://schemas.openxmlformats.org/drawingml/2006/main">
            <a:r>
              <a:t>app.py: reset_filters and render_overview</a:t>
            </a:r>
          </a:p>
          <a:p xmlns:a="http://schemas.openxmlformats.org/drawingml/2006/main">
            <a:r>
              <a:t>engine.py: filtered_rows, filtered_summary and rebased_rows</a:t>
            </a:r>
          </a:p>
          <a:p xmlns:a="http://schemas.openxmlformats.org/drawingml/2006/main">
            <a:r>
              <a:t>reports/query_results/full_summary.csv</a:t>
            </a:r>
          </a:p>
          <a:p xmlns:a="http://schemas.openxmlformats.org/drawingml/2006/main">
            <a:r>
              <a:t>User screenshot 071015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twenty-day moving average is AVG(close_price) over ROWS BETWEEN 19 PRECEDING AND CURRENT ROW. The fifty-day window uses 49 PRECEDING. ROW_NUMBER ensures there are at least 20 or 50 observations before returning the result. That keeps the first 19/49 observations NULL. These are trading observations, so weekends do not consume a window row. The first complete Bajaj MA20 is INR 2,415.53 on 29 January 2015, its first MA50 is INR 2,283.80 on 13 March 2015, and the last MA20 is INR 2,918.51 on 31 July 2018.</a:t>
            </a:r>
          </a:p>
          <a:p xmlns:a="http://schemas.openxmlformats.org/drawingml/2006/main">
            <a:r>
              <a:t/>
            </a:r>
          </a:p>
          <a:p xmlns:a="http://schemas.openxmlformats.org/drawingml/2006/main">
            <a:r>
              <a:t>The assignment Bajaj tables round averages to two decimals. The cross-stock and adjusted calculations retain full precision. I calculate all historical windows before applying the date filters. The price chart offers a line or OHLC candlesticks, an MA toggle, Buy and Sell markers, and a reported-shares subplot. The daily-move chart shows close-to-close percentage changes. The drawdown chart measures decline from the historical running close peak. The expanded trading-row table and CSV expose the plotted records.</a:t>
            </a:r>
          </a:p>
          <a:p xmlns:a="http://schemas.openxmlformats.org/drawingml/2006/main">
            <a:r>
              <a:t/>
            </a:r>
          </a:p>
          <a:p xmlns:a="http://schemas.openxmlformats.org/drawingml/2006/main">
            <a:r>
              <a:t>Relevant functions and Plotly objects: render_explorer, chart, table, csv_button, make_subplots, go.Scatter, go.Candlestick, go.Bar, px.bar and px.area.</a:t>
            </a:r>
          </a:p>
          <a:p xmlns:a="http://schemas.openxmlformats.org/drawingml/2006/main">
            <a:r>
              <a:t/>
            </a:r>
          </a:p>
          <a:p xmlns:a="http://schemas.openxmlformats.org/drawingml/2006/main">
            <a:r>
              <a:t>Sources</a:t>
            </a:r>
          </a:p>
          <a:p xmlns:a="http://schemas.openxmlformats.org/drawingml/2006/main">
            <a:r>
              <a:t>Student guide, task 5.</a:t>
            </a:r>
          </a:p>
          <a:p xmlns:a="http://schemas.openxmlformats.org/drawingml/2006/main">
            <a:r>
              <a:t>engine.py: setup_analysis_sql and analytics_select</a:t>
            </a:r>
          </a:p>
          <a:p xmlns:a="http://schemas.openxmlformats.org/drawingml/2006/main">
            <a:r>
              <a:t>app.py: render_explorer</a:t>
            </a:r>
          </a:p>
          <a:p xmlns:a="http://schemas.openxmlformats.org/drawingml/2006/main">
            <a:r>
              <a:t>User screenshot 071038 and video screenshot 02_Stock_Explorer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Buy rule is current MA20 &gt; MA50 and previous MA20 &lt;= MA50. Sell requires current MA20 &lt; MA50 and previous MA20 &gt;= MA50. I use LAG for the previous averages and CASE for the event label. If either current or previous average is NULL, I return Hold. Equality alone does not count as a crossing. Bajaj has 12 Buy, 11 Sell and 866 Hold days in the raw assignment table. Its first Buy is 18 May 2015 and its first Sell is 24 August 2015.</a:t>
            </a:r>
          </a:p>
          <a:p xmlns:a="http://schemas.openxmlformats.org/drawingml/2006/main">
            <a:r>
              <a:t/>
            </a:r>
          </a:p>
          <a:p xmlns:a="http://schemas.openxmlformats.org/drawingml/2006/main">
            <a:r>
              <a:t>I can choose Buy, Sell and Hold in the event filter, inspect up to 300 events on screen and export every matching event. A quick reversal is an opposite crossing within 30 calendar days. The SQL table also reports the elapsed trading observations. Its previous crossing can precede the selected start date, while the new crossing must be inside the range. Adjusted counts are Bajaj 11, Eicher 1, Hero 4, Infosys 6, TCS 8 and TVS 4 quick reversals. Frequent crossings create more potential executions, but I cannot infer a loss from the count alone.</a:t>
            </a:r>
          </a:p>
          <a:p xmlns:a="http://schemas.openxmlformats.org/drawingml/2006/main">
            <a:r>
              <a:t/>
            </a:r>
          </a:p>
          <a:p xmlns:a="http://schemas.openxmlformats.org/drawingml/2006/main">
            <a:r>
              <a:t>Relevant functions and SQL: render_signals, LAG, CASE, SUM with conditional cases, ROW_NUMBER, GROUP BY, ORDER BY and v_crossovers.</a:t>
            </a:r>
          </a:p>
          <a:p xmlns:a="http://schemas.openxmlformats.org/drawingml/2006/main">
            <a:r>
              <a:t/>
            </a:r>
          </a:p>
          <a:p xmlns:a="http://schemas.openxmlformats.org/drawingml/2006/main">
            <a:r>
              <a:t>Sources</a:t>
            </a:r>
          </a:p>
          <a:p xmlns:a="http://schemas.openxmlformats.org/drawingml/2006/main">
            <a:r>
              <a:t>Student guide, tasks 7, 8 and 10.</a:t>
            </a:r>
          </a:p>
          <a:p xmlns:a="http://schemas.openxmlformats.org/drawingml/2006/main">
            <a:r>
              <a:t>reports/query_results/task_08.csv</a:t>
            </a:r>
          </a:p>
          <a:p xmlns:a="http://schemas.openxmlformats.org/drawingml/2006/main">
            <a:r>
              <a:t>reports/query_results/task_16.csv</a:t>
            </a:r>
          </a:p>
          <a:p xmlns:a="http://schemas.openxmlformats.org/drawingml/2006/main">
            <a:r>
              <a:t>User screenshot 071055 and video screenshot 03_Signal_History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date-lookup control uses the selected stock and price basis but has its own date, independent of the sidebar interval. It returns Buy for Bajaj on 21 June 2018 and Hold for 4 January 2016. In MySQL, bajaj_signal(d) is a reusable function. Its missing-date result is NULL. The SQLite app displays that there is no trading record for an absent date.</a:t>
            </a:r>
          </a:p>
          <a:p xmlns:a="http://schemas.openxmlformats.org/drawingml/2006/main">
            <a:r>
              <a:t/>
            </a:r>
          </a:p>
          <a:p xmlns:a="http://schemas.openxmlformats.org/drawingml/2006/main">
            <a:r>
              <a:t>The scenario is a Python model using SQL-generated adjusted prices and events. I start with INR 100,000 cash. A closing signal fills at the next observed open, which avoids using the signal before the close is known. The model is long-only, allows fractional units, ignores an initial Sell while in cash and liquidates any remaining investment at the final close. Fee and slippage sliders are explicit assumptions. With a fee of 10 basis points, or 0.10%, on each transaction and no slippage, Bajaj has a net result of −1.0872%, a final value of approximately INR 98,913, modeled fees of INR 2,461.56 and 24 executions. Its zero-cost scenario return is +1.3154%. These differ from the +10.0485% first-to-last price change because the entry/exit dates are different. The app shows an equity curve and an exportable trade log. Dividends, taxes, actual brokerage and market impact are absent.</a:t>
            </a:r>
          </a:p>
          <a:p xmlns:a="http://schemas.openxmlformats.org/drawingml/2006/main">
            <a:r>
              <a:t/>
            </a:r>
          </a:p>
          <a:p xmlns:a="http://schemas.openxmlformats.org/drawingml/2006/main">
            <a:r>
              <a:t>Relevant functions: simulate, filtered_rows and render_signals. The simulation computes units, next-open fills, fee and slippage deductions, equity, final liquidation, and a complete trade log.</a:t>
            </a:r>
          </a:p>
          <a:p xmlns:a="http://schemas.openxmlformats.org/drawingml/2006/main">
            <a:r>
              <a:t/>
            </a:r>
          </a:p>
          <a:p xmlns:a="http://schemas.openxmlformats.org/drawingml/2006/main">
            <a:r>
              <a:t>Sources</a:t>
            </a:r>
          </a:p>
          <a:p xmlns:a="http://schemas.openxmlformats.org/drawingml/2006/main">
            <a:r>
              <a:t>Student guide, task 9 and insight questions.</a:t>
            </a:r>
          </a:p>
          <a:p xmlns:a="http://schemas.openxmlformats.org/drawingml/2006/main">
            <a:r>
              <a:t>simulator.py: simulate</a:t>
            </a:r>
          </a:p>
          <a:p xmlns:a="http://schemas.openxmlformats.org/drawingml/2006/main">
            <a:r>
              <a:t>reports/query_results/execution_scenario.csv</a:t>
            </a:r>
          </a:p>
          <a:p xmlns:a="http://schemas.openxmlformats.org/drawingml/2006/main">
            <a:r>
              <a:t>Video screenshots 08_Date_Lookup and 09_Execution_Scenario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verified the two one-for-one bonus events against issuer documentation. The adjustment applies strictly before the ex-bonus trading date. The event day itself and later prices remain unchanged. I divide open, high, low and close by two and leave reported volume unchanged. The raw worst Infosys daily move on 15 June 2015 is −49.8596%, while the adjusted move is +0.2808%. The raw TCS move on 31 May 2018 is −50.4001%, while the adjusted move is −0.8002%.</a:t>
            </a:r>
          </a:p>
          <a:p xmlns:a="http://schemas.openxmlformats.org/drawingml/2006/main">
            <a:r>
              <a:t/>
            </a:r>
          </a:p>
          <a:p xmlns:a="http://schemas.openxmlformats.org/drawingml/2006/main">
            <a:r>
              <a:t>Full-period Infosys change shifts from −30.9141% to +38.1719%, a difference of 69.0859 percentage points. TCS shifts from −23.8188% to +52.3625%, a difference of 76.1812 percentage points. The five signal differences are Infosys on 1 July, 8 July, 27 July and 18 August 2015, and TCS on 5 June 2018. TCS’s latest raw Sell on 5 June becomes an adjusted latest Buy on 20 April. I use the ex-bonus date rather than the later record/allotment date.</a:t>
            </a:r>
          </a:p>
          <a:p xmlns:a="http://schemas.openxmlformats.org/drawingml/2006/main">
            <a:r>
              <a:t/>
            </a:r>
          </a:p>
          <a:p xmlns:a="http://schemas.openxmlformats.org/drawingml/2006/main">
            <a:r>
              <a:t>I also checked the supplied course slides. Infosys’s raw decline is 30.91%, rather than the stated 3%. TCS’s true raw endpoints are INR 2,548.20 and INR 1,941.25. Eicher’s +82.5623% rounds to +82.6% at one decimal. Only the two identified bonus events are adjusted. The return remains a price change excluding dividend reinvestment. Corporate actions use the full supplied period, independent of sidebar dates, and respect the stock selection. Relevant functions/views: render_actions, corporate_actions, v_price_basis and v_signal_changes.</a:t>
            </a:r>
          </a:p>
          <a:p xmlns:a="http://schemas.openxmlformats.org/drawingml/2006/main">
            <a:r>
              <a:t/>
            </a:r>
          </a:p>
          <a:p xmlns:a="http://schemas.openxmlformats.org/drawingml/2006/main">
            <a:r>
              <a:t>Sources</a:t>
            </a:r>
          </a:p>
          <a:p xmlns:a="http://schemas.openxmlformats.org/drawingml/2006/main">
            <a:r>
              <a:t>https://www.infosys.com/investors/reports-filings/quarterly-results/2015-2016/q1/documents/q1-2016.pdf (page 5)</a:t>
            </a:r>
          </a:p>
          <a:p xmlns:a="http://schemas.openxmlformats.org/drawingml/2006/main">
            <a:r>
              <a:t>https://www.tcs.com/content/dam/tcs/pdf/discover-tcs/investor-relations/faq/annual-report-18-19-intimation-record-date-agm-24.pdf (printed page 89)</a:t>
            </a:r>
          </a:p>
          <a:p xmlns:a="http://schemas.openxmlformats.org/drawingml/2006/main">
            <a:r>
              <a:t>reports/query_results/task_12.csv, task_13.csv and task_15.csv</a:t>
            </a:r>
          </a:p>
          <a:p xmlns:a="http://schemas.openxmlformats.org/drawingml/2006/main">
            <a:r>
              <a:t>User screenshot 071121 and video screenshot 04_Corporate_Actions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submission uses MySQL 8, while the interactive playground uses SQLite. Both scripts contain the same supplied records. MySQL extracts the year with YEAR(date), while SQLite uses strftime('%Y',date). I quote the signal column with backticks in MySQL. The SQL functions and clauses include COUNT, COUNT(DISTINCT), MIN, MAX, AVG, SUM, ROUND, SQRT, ROW_NUMBER, LAG, FIRST_VALUE, CASE, COALESCE, NULLIF, NULL checks, PARTITION BY, ORDER BY, ROWS windows, GROUP BY, JOIN, LEFT JOIN, UNION ALL, WITH CTEs, date and julianday in SQLite, and DATEDIFF in MySQL. Running MAX produces the close peak for drawdown, FIRST_VALUE rebases prices, and sample volatility uses daily changes with a sqrt(252) annualization factor.</a:t>
            </a:r>
          </a:p>
          <a:p xmlns:a="http://schemas.openxmlformats.org/drawingml/2006/main">
            <a:r>
              <a:t/>
            </a:r>
          </a:p>
          <a:p xmlns:a="http://schemas.openxmlformats.org/drawingml/2006/main">
            <a:r>
              <a:t>The editor includes presets for tasks 1-18, a schema inspector, Run SQL, query reset and configurable limits of 100, 1,000, 6,000 or 20,000 displayed rows. Queries use complete database objects unless I choose selected_prices, which follows the stock, date and basis filters. A sidebar change does not silently rewrite a raw assignment preset. run_readonly_query permits one read-only SELECT or WITH SELECT, applies SQLite authorization rules, stops long statements through a progress handler and returns a truncation notice when needed. It blocks database mutations, file-access functions and extension loading. PRAGMA is used internally to inspect table definitions.</a:t>
            </a:r>
          </a:p>
          <a:p xmlns:a="http://schemas.openxmlformats.org/drawingml/2006/main">
            <a:r>
              <a:t/>
            </a:r>
          </a:p>
          <a:p xmlns:a="http://schemas.openxmlformats.org/drawingml/2006/main">
            <a:r>
              <a:t>Relevant Python functions: task_queries, run_readonly_query, set_selected_view, new_connection, dataframe, render_sql and query_history. The SQL editor preserves its draft across page navigation and the app clearly labels a previously executed result if the editor or selection changes.</a:t>
            </a:r>
          </a:p>
          <a:p xmlns:a="http://schemas.openxmlformats.org/drawingml/2006/main">
            <a:r>
              <a:t/>
            </a:r>
          </a:p>
          <a:p xmlns:a="http://schemas.openxmlformats.org/drawingml/2006/main">
            <a:r>
              <a:t>Sources</a:t>
            </a:r>
          </a:p>
          <a:p xmlns:a="http://schemas.openxmlformats.org/drawingml/2006/main">
            <a:r>
              <a:t>engine.py: task_queries, run_readonly_query and set_selected_view</a:t>
            </a:r>
          </a:p>
          <a:p xmlns:a="http://schemas.openxmlformats.org/drawingml/2006/main">
            <a:r>
              <a:t>app.py: new_connection, render_sql and query_history</a:t>
            </a:r>
          </a:p>
          <a:p xmlns:a="http://schemas.openxmlformats.org/drawingml/2006/main">
            <a:r>
              <a:t>sql/Stock_Market_Analysis_MySQL.sql</a:t>
            </a:r>
          </a:p>
          <a:p xmlns:a="http://schemas.openxmlformats.org/drawingml/2006/main">
            <a:r>
              <a:t>User screenshot 071138 and video screenshot 05_SQL_Playground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 table displays actual executed rows and measured query time. The result downloads preserve the data as CSV or JSON, and a separate download preserves the exact SQL text. The result chart lets me select an X column, numeric Y column and a bar, line or scatter plot. It uses at most the first 500 displayed rows. I control aggregation and order in SQL with GROUP BY and ORDER BY rather than assuming the chart will aggregate for me. The session history keeps ten recently executed statements.</a:t>
            </a:r>
          </a:p>
          <a:p xmlns:a="http://schemas.openxmlformats.org/drawingml/2006/main">
            <a:r>
              <a:t/>
            </a:r>
          </a:p>
          <a:p xmlns:a="http://schemas.openxmlformats.org/drawingml/2006/main">
            <a:r>
              <a:t>Raw task-10 counts are Bajaj 12/11, Eicher 6/7, Hero 9/9, Infosys 9/9, TCS 12/13 and TVS 8/8. They sum to 56 Buy and 57 Sell. Adjusted analytics sum to 57 of each. The task-10 preset explicitly queries the six original tables, so the sidebar label does not make that query adjusted. The selected_prices view is the explicit way to follow filters.</a:t>
            </a:r>
          </a:p>
          <a:p xmlns:a="http://schemas.openxmlformats.org/drawingml/2006/main">
            <a:r>
              <a:t/>
            </a:r>
          </a:p>
          <a:p xmlns:a="http://schemas.openxmlformats.org/drawingml/2006/main">
            <a:r>
              <a:t>The shared display/export helpers are chart, table and csv_button. Streamlit functions include set_page_config, markdown, sidebar, radio, selectbox, multiselect, date_input, checkbox, slider, text_area, text_input, button, metric, tabs, columns, container, dataframe, plotly_chart, expander, download_button, link_button, caption, info, success, warning, error, cache_data, session_state and rerun. Plotly Express creates the result charts. render_downloads handles submission files, original data/database exports, quality inspection and sources. main manages page routing, selection validation and connection cleanup.</a:t>
            </a:r>
          </a:p>
          <a:p xmlns:a="http://schemas.openxmlformats.org/drawingml/2006/main">
            <a:r>
              <a:t/>
            </a:r>
          </a:p>
          <a:p xmlns:a="http://schemas.openxmlformats.org/drawingml/2006/main">
            <a:r>
              <a:t>Sources</a:t>
            </a:r>
          </a:p>
          <a:p xmlns:a="http://schemas.openxmlformats.org/drawingml/2006/main">
            <a:r>
              <a:t>app.py: render_sql, query_history, chart, table, csv_button, render_downloads and main</a:t>
            </a:r>
          </a:p>
          <a:p xmlns:a="http://schemas.openxmlformats.org/drawingml/2006/main">
            <a:r>
              <a:t>reports/query_results/task_10.csv</a:t>
            </a:r>
          </a:p>
          <a:p xmlns:a="http://schemas.openxmlformats.org/drawingml/2006/main">
            <a:r>
              <a:t>User screenshot 071208 and video screenshot 06_SQL_Result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Adjusted full-period price changes are Bajaj +10.0485%, Eicher +82.5623%, Hero +6.0020%, Infosys +38.1719%, TCS +52.3625% and TVS +86.9063%. The latest adjusted crossover is Buy for Bajaj, Infosys and TCS, and Sell for Eicher, Hero and TVS. Those directions also match their final MA20-versus-MA50 regimes. A positive full-period return can coexist with a later Sell because the two measurements answer different questions. I would check a benchmark, the trend at the end of the period and costs before relying on either measurement for a decision. All final-day event labels are Hold.</a:t>
            </a:r>
          </a:p>
          <a:p xmlns:a="http://schemas.openxmlformats.org/drawingml/2006/main">
            <a:r>
              <a:t/>
            </a:r>
          </a:p>
          <a:p xmlns:a="http://schemas.openxmlformats.org/drawingml/2006/main">
            <a:r>
              <a:t>Annualized sample volatility is 23.29% for Bajaj, 29.12% for Eicher, 22.32% for Hero, 23.79% for Infosys, 21.61% for TCS and 30.80% for TVS. Maximum drawdowns are −23.18%, −28.32%, −26.90%, −31.06%, −24.13% and −34.59% respectively. The scenario return is a modeled strategy outcome, not the first-to-last price change. The modeled fees in INR are 2,461.56 for Bajaj, 1,580.85 for Eicher, 1,623.20 for Hero, 1,794.58 for Infosys, 1,857.46 for TCS and 1,958.65 for TVS. Costs and timing help explain why Bajaj, Hero and TCS scenarios finish below starting cash.</a:t>
            </a:r>
          </a:p>
          <a:p xmlns:a="http://schemas.openxmlformats.org/drawingml/2006/main">
            <a:r>
              <a:t/>
            </a:r>
          </a:p>
          <a:p xmlns:a="http://schemas.openxmlformats.org/drawingml/2006/main">
            <a:r>
              <a:t>Limitations: the moving average lags prices, only six selected stocks are present, the dataset ends in July 2018, and dividend, benchmark, news, actual cost and tax data are missing. I cannot interpret this as current market guidance.</a:t>
            </a:r>
          </a:p>
          <a:p xmlns:a="http://schemas.openxmlformats.org/drawingml/2006/main">
            <a:r>
              <a:t/>
            </a:r>
          </a:p>
          <a:p xmlns:a="http://schemas.openxmlformats.org/drawingml/2006/main">
            <a:r>
              <a:t>Sources</a:t>
            </a:r>
          </a:p>
          <a:p xmlns:a="http://schemas.openxmlformats.org/drawingml/2006/main">
            <a:r>
              <a:t>reports/query_results/full_summary.csv</a:t>
            </a:r>
          </a:p>
          <a:p xmlns:a="http://schemas.openxmlformats.org/drawingml/2006/main">
            <a:r>
              <a:t>reports/query_results/task_16.csv and task_17.csv</a:t>
            </a:r>
          </a:p>
          <a:p xmlns:a="http://schemas.openxmlformats.org/drawingml/2006/main">
            <a:r>
              <a:t>reports/query_results/execution_scenario.csv</a:t>
            </a:r>
          </a:p>
          <a:p xmlns:a="http://schemas.openxmlformats.org/drawingml/2006/main">
            <a:r>
              <a:t>Student guide, insight questions on page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Through this project, I learned how SQL window functions connect individual trading records to a complete analysis. I learned that the same data can lead to a misleading conclusion if I ignore a bonus issue or confuse a daily event with a portfolio position. I also learned to preserve missing values, distinguish trading observations from calendar days and check my calculations before interpreting charts. The app made it easier for me to move between a visual result and the query behind it.</a:t>
            </a:r>
          </a:p>
          <a:p xmlns:a="http://schemas.openxmlformats.org/drawingml/2006/main">
            <a:r>
              <a:t/>
            </a:r>
          </a:p>
          <a:p xmlns:a="http://schemas.openxmlformats.org/drawingml/2006/main">
            <a:r>
              <a:t>For future improvements, I would add dividend data and a broad market benchmark, include a more complete corporate-action history and test alternative moving-average windows on unseen periods. I would compare more realistic costs and execution assumptions. I would also connect refreshed data, host the dashboard with scheduled updates, improve accessibility and validate custom uploads. These are proposed next steps, not features already implemented. My current conclusions remain limited to the supplied six-stock dataset, ending on 31 July 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4c4be0d3dd42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74a00132a34c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eba7bd231e4e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25c9463f88949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b5d49f695147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dac498542c48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7122A0-EC2F-49FF-ACA9-BFE5C25C89A9}"/>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43F9E4C-935B-45FF-9612-F97B2FE16592}"/>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B408CA-C21C-49D8-B0E7-BFB9F9E2FCAA}"/>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1F34A3-E46D-423E-BA1B-F57D39D4AA9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8EF460-C8E9-4F52-A99E-D7298ED80B33}"/>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8CD139-33B7-493E-A26C-F97B6658753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8B3B6F-B149-4652-AE26-1D354B380A7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EA4E9A-ACF0-43C8-B4C8-BD72878EF7F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F16390-B4FE-4001-BC47-3C09C5DEA10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E5B86A-6DAD-4559-91F4-A75BE829EEBC}"/>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2823d844844060" /><Relationship Type="http://schemas.openxmlformats.org/officeDocument/2006/relationships/slideLayout" Target="/ppt/slideLayouts/slideLayout1.xml" Id="Re4da6b2a06474924" /><Relationship Type="http://schemas.openxmlformats.org/officeDocument/2006/relationships/slideLayout" Target="/ppt/slideLayouts/slideLayout2.xml" Id="R5d356bf0664444b7" /><Relationship Type="http://schemas.openxmlformats.org/officeDocument/2006/relationships/slideLayout" Target="/ppt/slideLayouts/slideLayout3.xml" Id="R6d8f585ed7b844d5" /><Relationship Type="http://schemas.openxmlformats.org/officeDocument/2006/relationships/slideLayout" Target="/ppt/slideLayouts/slideLayout4.xml" Id="R53c4f8f5ea2e4d38" /><Relationship Type="http://schemas.openxmlformats.org/officeDocument/2006/relationships/slideLayout" Target="/ppt/slideLayouts/slideLayout5.xml" Id="Rc7fa68af71484673" /><Relationship Type="http://schemas.openxmlformats.org/officeDocument/2006/relationships/slideLayout" Target="/ppt/slideLayouts/slideLayout6.xml" Id="R4d109714403544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da6b2a06474924"/>
    <p:sldLayoutId xmlns:r="http://schemas.openxmlformats.org/officeDocument/2006/relationships" id="2147483650" r:id="R5d356bf0664444b7"/>
    <p:sldLayoutId xmlns:r="http://schemas.openxmlformats.org/officeDocument/2006/relationships" id="2147483651" r:id="R6d8f585ed7b844d5"/>
    <p:sldLayoutId xmlns:r="http://schemas.openxmlformats.org/officeDocument/2006/relationships" id="2147483652" r:id="R53c4f8f5ea2e4d38"/>
    <p:sldLayoutId xmlns:r="http://schemas.openxmlformats.org/officeDocument/2006/relationships" id="2147483653" r:id="Rc7fa68af71484673"/>
    <p:sldLayoutId xmlns:r="http://schemas.openxmlformats.org/officeDocument/2006/relationships" id="2147483654" r:id="R4d109714403544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1ad4c6f397b46a2" /><Relationship Type="http://schemas.openxmlformats.org/officeDocument/2006/relationships/image" Target="/ppt/media/image.png" Id="R20ac685d61b14ccd" /><Relationship Type="http://schemas.openxmlformats.org/officeDocument/2006/relationships/notesSlide" Target="/ppt/notesSlides/notesSlide1.xml" Id="Rad164df92e3d4a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ff3e8fdc8c408b" /><Relationship Type="http://schemas.openxmlformats.org/officeDocument/2006/relationships/notesSlide" Target="/ppt/notesSlides/notesSlide2.xml" Id="R0be67224f13f4c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cb4152fbb39408c" /><Relationship Type="http://schemas.openxmlformats.org/officeDocument/2006/relationships/image" Target="/ppt/media/image2.png" Id="R5b502f1053aa4f3b" /><Relationship Type="http://schemas.openxmlformats.org/officeDocument/2006/relationships/image" Target="/ppt/media/image3.png" Id="R7b8dd1775efe4a24" /><Relationship Type="http://schemas.openxmlformats.org/officeDocument/2006/relationships/notesSlide" Target="/ppt/notesSlides/notesSlide3.xml" Id="Rf607dc8e873c45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58ff5c516164420" /><Relationship Type="http://schemas.openxmlformats.org/officeDocument/2006/relationships/image" Target="/ppt/media/image4.png" Id="R9c98c49a9a204533" /><Relationship Type="http://schemas.openxmlformats.org/officeDocument/2006/relationships/notesSlide" Target="/ppt/notesSlides/notesSlide4.xml" Id="R4063611abc9148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a7fc86a6e6445f" /><Relationship Type="http://schemas.openxmlformats.org/officeDocument/2006/relationships/image" Target="/ppt/media/image5.png" Id="Rc7461d339cc143f7" /><Relationship Type="http://schemas.openxmlformats.org/officeDocument/2006/relationships/image" Target="/ppt/media/image6.png" Id="Rbc5145da4217472a" /><Relationship Type="http://schemas.openxmlformats.org/officeDocument/2006/relationships/notesSlide" Target="/ppt/notesSlides/notesSlide5.xml" Id="Rdb0deb2b912e41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821834558fa44c8" /><Relationship Type="http://schemas.openxmlformats.org/officeDocument/2006/relationships/image" Target="/ppt/media/image7.png" Id="Re045d322af7a4723" /><Relationship Type="http://schemas.openxmlformats.org/officeDocument/2006/relationships/image" Target="/ppt/media/image8.png" Id="R8b95c08eccac4994" /><Relationship Type="http://schemas.openxmlformats.org/officeDocument/2006/relationships/notesSlide" Target="/ppt/notesSlides/notesSlide6.xml" Id="R80c6208245c648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fa1688336949af" /><Relationship Type="http://schemas.openxmlformats.org/officeDocument/2006/relationships/image" Target="/ppt/media/image9.png" Id="R3fc4adb89bf44dac" /><Relationship Type="http://schemas.openxmlformats.org/officeDocument/2006/relationships/image" Target="/ppt/media/image10.png" Id="R5944d67b497a44cb" /><Relationship Type="http://schemas.openxmlformats.org/officeDocument/2006/relationships/notesSlide" Target="/ppt/notesSlides/notesSlide7.xml" Id="R99dcebb67fa94a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97f2c8cbf844f16" /><Relationship Type="http://schemas.openxmlformats.org/officeDocument/2006/relationships/image" Target="/ppt/media/image11.png" Id="Rf02303458cb04e26" /><Relationship Type="http://schemas.openxmlformats.org/officeDocument/2006/relationships/image" Target="/ppt/media/image12.png" Id="R25a640434e46454a" /><Relationship Type="http://schemas.openxmlformats.org/officeDocument/2006/relationships/notesSlide" Target="/ppt/notesSlides/notesSlide8.xml" Id="Rd50db5d82ea940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212692276e4d51" /><Relationship Type="http://schemas.openxmlformats.org/officeDocument/2006/relationships/image" Target="/ppt/media/image13.png" Id="R0e6700c7ac0443cc" /><Relationship Type="http://schemas.openxmlformats.org/officeDocument/2006/relationships/image" Target="/ppt/media/image14.png" Id="Rc6728b82900e42da" /><Relationship Type="http://schemas.openxmlformats.org/officeDocument/2006/relationships/notesSlide" Target="/ppt/notesSlides/notesSlide9.xml" Id="Rdc7f5630630445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c7c2a892c3429f" /><Relationship Type="http://schemas.openxmlformats.org/officeDocument/2006/relationships/image" Target="/ppt/media/image15.png" Id="Rbb1c25cbaa3b461b" /><Relationship Type="http://schemas.openxmlformats.org/officeDocument/2006/relationships/image" Target="/ppt/media/image16.png" Id="R909dd96c960e4123" /><Relationship Type="http://schemas.openxmlformats.org/officeDocument/2006/relationships/notesSlide" Target="/ppt/notesSlides/notesSlide10.xml" Id="R98bc114f1e2f41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5b05f973cc7409a" /><Relationship Type="http://schemas.openxmlformats.org/officeDocument/2006/relationships/notesSlide" Target="/ppt/notesSlides/notesSlide11.xml" Id="Raf328bbb8e4544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ab3e78d21254993" /><Relationship Type="http://schemas.openxmlformats.org/officeDocument/2006/relationships/notesSlide" Target="/ppt/notesSlides/notesSlide12.xml" Id="R6450afd7486a4067" /></Relationships>
</file>

<file path=ppt/slides/slide1.xml><?xml version="1.0" encoding="utf-8"?>
<p:sld xmlns:p="http://schemas.openxmlformats.org/presentationml/2006/main">
  <p:cSld>
    <p:bg>
      <p:bgPr>
        <a:solidFill xmlns:a="http://schemas.openxmlformats.org/drawingml/2006/main">
          <a:srgbClr val="142240"/>
        </a:solidFill>
      </p:bgPr>
    </p:bg>
    <p:spTree>
      <p:nvGrpSpPr>
        <p:cNvPr id="1" name=""/>
        <p:cNvGrpSpPr/>
        <p:nvPr/>
      </p:nvGrpSpPr>
      <p:grpSpPr>
        <a:xfrm xmlns:a="http://schemas.openxmlformats.org/drawingml/2006/main"/>
      </p:grpSpPr>
      <p:sp>
        <p:nvSpPr>
          <p:cNvPr id="7" name="cover-title">
            <a:extLst xmlns:a="http://schemas.openxmlformats.org/drawingml/2006/main">
              <a:ext uri="{FF2B5EF4-FFF2-40B4-BE49-F238E27FC236}">
                <a16:creationId xmlns:a16="http://schemas.microsoft.com/office/drawing/2014/main" id="{B1FA0E9B-8FC6-46D5-8313-CF1321FD6449}"/>
              </a:ext>
            </a:extLst>
          </p:cNvPr>
          <p:cNvSpPr>
            <a:spLocks xmlns:a="http://schemas.openxmlformats.org/drawingml/2006/main" noGrp="1"/>
          </p:cNvSpPr>
          <p:nvPr/>
        </p:nvSpPr>
        <p:spPr>
          <a:xfrm xmlns:a="http://schemas.openxmlformats.org/drawingml/2006/main">
            <a:off x="571500" y="1571625"/>
            <a:ext cx="5905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DejaVu Sans"/>
                <a:ea typeface="DejaVu Sans"/>
                <a:cs typeface="DejaVu Sans"/>
              </a:defRPr>
            </a:defPPr>
          </a:lstStyle>
          <a:p xmlns:a="http://schemas.openxmlformats.org/drawingml/2006/main">
            <a:pPr algn="l">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Stock Market</a:t>
            </a:r>
          </a:p>
          <a:p xmlns:a="http://schemas.openxmlformats.org/drawingml/2006/main">
            <a:pPr algn="l">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Analysis</a:t>
            </a:r>
          </a:p>
        </p:txBody>
      </p:sp>
      <p:sp>
        <p:nvSpPr>
          <p:cNvPr id="2" name="text">
            <a:extLst xmlns:a="http://schemas.openxmlformats.org/drawingml/2006/main">
              <a:ext uri="{FF2B5EF4-FFF2-40B4-BE49-F238E27FC236}">
                <a16:creationId xmlns:a16="http://schemas.microsoft.com/office/drawing/2014/main" id="{911645A4-D347-441F-BC0C-17029E2AFBB8}"/>
              </a:ext>
            </a:extLst>
          </p:cNvPr>
          <p:cNvSpPr>
            <a:spLocks xmlns:a="http://schemas.openxmlformats.org/drawingml/2006/main" noGrp="1"/>
          </p:cNvSpPr>
          <p:nvPr/>
        </p:nvSpPr>
        <p:spPr>
          <a:xfrm xmlns:a="http://schemas.openxmlformats.org/drawingml/2006/main">
            <a:off x="619125" y="3771900"/>
            <a:ext cx="5429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C9D5EF"/>
                </a:solidFill>
                <a:latin typeface="DejaVu Sans"/>
                <a:ea typeface="DejaVu Sans"/>
                <a:cs typeface="DejaVu Sans"/>
              </a:defRPr>
            </a:defPPr>
          </a:lstStyle>
          <a:p xmlns:a="http://schemas.openxmlformats.org/drawingml/2006/main">
            <a:pPr algn="l">
              <a:defRPr sz="2475" b="0">
                <a:solidFill>
                  <a:srgbClr val="C9D5EF"/>
                </a:solidFill>
                <a:latin typeface="DejaVu Sans"/>
                <a:ea typeface="DejaVu Sans"/>
                <a:cs typeface="DejaVu Sans"/>
              </a:defRPr>
            </a:pPr>
            <a:r>
              <a:rPr sz="2475" b="0">
                <a:solidFill>
                  <a:srgbClr val="C9D5EF"/>
                </a:solidFill>
                <a:latin typeface="DejaVu Sans"/>
                <a:ea typeface="DejaVu Sans"/>
                <a:cs typeface="DejaVu Sans"/>
              </a:rPr>
              <a:t>My SQL analysis and</a:t>
            </a:r>
          </a:p>
          <a:p xmlns:a="http://schemas.openxmlformats.org/drawingml/2006/main">
            <a:pPr algn="l">
              <a:defRPr sz="2475" b="0">
                <a:solidFill>
                  <a:srgbClr val="C9D5EF"/>
                </a:solidFill>
                <a:latin typeface="DejaVu Sans"/>
                <a:ea typeface="DejaVu Sans"/>
                <a:cs typeface="DejaVu Sans"/>
              </a:defRPr>
            </a:pPr>
            <a:r>
              <a:rPr sz="2475" b="0">
                <a:solidFill>
                  <a:srgbClr val="C9D5EF"/>
                </a:solidFill>
                <a:latin typeface="DejaVu Sans"/>
                <a:ea typeface="DejaVu Sans"/>
                <a:cs typeface="DejaVu Sans"/>
              </a:rPr>
              <a:t>Streamlit dashboard</a:t>
            </a:r>
          </a:p>
        </p:txBody>
      </p:sp>
      <p:sp>
        <p:nvSpPr>
          <p:cNvPr id="3" name="text">
            <a:extLst xmlns:a="http://schemas.openxmlformats.org/drawingml/2006/main">
              <a:ext uri="{FF2B5EF4-FFF2-40B4-BE49-F238E27FC236}">
                <a16:creationId xmlns:a16="http://schemas.microsoft.com/office/drawing/2014/main" id="{100693D7-275D-4CFD-9D08-795784DA4FA9}"/>
              </a:ext>
            </a:extLst>
          </p:cNvPr>
          <p:cNvSpPr>
            <a:spLocks xmlns:a="http://schemas.openxmlformats.org/drawingml/2006/main" noGrp="1"/>
          </p:cNvSpPr>
          <p:nvPr/>
        </p:nvSpPr>
        <p:spPr>
          <a:xfrm xmlns:a="http://schemas.openxmlformats.org/drawingml/2006/main">
            <a:off x="619125" y="59436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DejaVu Sans"/>
                <a:ea typeface="DejaVu Sans"/>
                <a:cs typeface="DejaVu Sans"/>
              </a:defRPr>
            </a:defPPr>
          </a:lstStyle>
          <a:p xmlns:a="http://schemas.openxmlformats.org/drawingml/2006/main">
            <a:pPr algn="l">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B82BA8F4-3132-4C36-B2C4-49B740976419}"/>
              </a:ext>
            </a:extLst>
          </p:cNvPr>
          <p:cNvSpPr>
            <a:spLocks xmlns:a="http://schemas.openxmlformats.org/drawingml/2006/main" noGrp="1"/>
          </p:cNvSpPr>
          <p:nvPr/>
        </p:nvSpPr>
        <p:spPr>
          <a:xfrm xmlns:a="http://schemas.openxmlformats.org/drawingml/2006/main">
            <a:off x="619125" y="6553200"/>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9D5EF"/>
                </a:solidFill>
                <a:latin typeface="DejaVu Sans"/>
                <a:ea typeface="DejaVu Sans"/>
                <a:cs typeface="DejaVu Sans"/>
              </a:defRPr>
            </a:defPPr>
          </a:lstStyle>
          <a:p xmlns:a="http://schemas.openxmlformats.org/drawingml/2006/main">
            <a:pPr algn="l">
              <a:defRPr sz="1725" b="0">
                <a:solidFill>
                  <a:srgbClr val="C9D5EF"/>
                </a:solidFill>
                <a:latin typeface="DejaVu Sans"/>
                <a:ea typeface="DejaVu Sans"/>
                <a:cs typeface="DejaVu Sans"/>
              </a:defRPr>
            </a:pPr>
            <a:r>
              <a:rPr sz="1725" b="0">
                <a:solidFill>
                  <a:srgbClr val="C9D5EF"/>
                </a:solidFill>
                <a:latin typeface="DejaVu Sans"/>
                <a:ea typeface="DejaVu Sans"/>
                <a:cs typeface="DejaVu Sans"/>
              </a:rPr>
              <a:t>1 January 2015 to 31 July 2018</a:t>
            </a:r>
          </a:p>
          <a:p xmlns:a="http://schemas.openxmlformats.org/drawingml/2006/main">
            <a:pPr algn="l">
              <a:defRPr sz="1725" b="0">
                <a:solidFill>
                  <a:srgbClr val="C9D5EF"/>
                </a:solidFill>
                <a:latin typeface="DejaVu Sans"/>
                <a:ea typeface="DejaVu Sans"/>
                <a:cs typeface="DejaVu Sans"/>
              </a:defRPr>
            </a:pPr>
            <a:r>
              <a:rPr sz="1725" b="0">
                <a:solidFill>
                  <a:srgbClr val="C9D5EF"/>
                </a:solidFill>
                <a:latin typeface="DejaVu Sans"/>
                <a:ea typeface="DejaVu Sans"/>
                <a:cs typeface="DejaVu Sans"/>
              </a:rPr>
              <a:t>Submission: 10 October 2026</a:t>
            </a:r>
          </a:p>
        </p:txBody>
      </p:sp>
      <p:pic>
        <p:nvPicPr>
          <p:cNvPr id="5" name="">
            <a:extLst xmlns:a="http://schemas.openxmlformats.org/drawingml/2006/main">
              <a:ext uri="{FF2B5EF4-FFF2-40B4-BE49-F238E27FC236}">
                <a16:creationId xmlns:a16="http://schemas.microsoft.com/office/drawing/2014/main" id="{34FCEF27-FA3C-42A2-BC23-7C82CA272AD6}"/>
              </a:ext>
            </a:extLst>
          </p:cNvPr>
          <p:cNvPicPr>
            <a:picLocks xmlns:a="http://schemas.openxmlformats.org/drawingml/2006/main" noChangeAspect="1"/>
          </p:cNvPicPr>
          <p:nvPr/>
        </p:nvPicPr>
        <p:blipFill>
          <a:blip xmlns:r="http://schemas.openxmlformats.org/officeDocument/2006/relationships" xmlns:a="http://schemas.openxmlformats.org/drawingml/2006/main" r:embed="R20ac685d61b14ccd"/>
          <a:srcRect xmlns:a="http://schemas.openxmlformats.org/drawingml/2006/main" l="0" t="0" r="0" b="0"/>
          <a:stretch xmlns:a="http://schemas.openxmlformats.org/drawingml/2006/main"/>
        </p:blipFill>
        <p:spPr>
          <a:xfrm xmlns:a="http://schemas.openxmlformats.org/drawingml/2006/main">
            <a:off x="6905625" y="1533657"/>
            <a:ext cx="7762875" cy="5390885"/>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FC0ADEDF-C4FC-49A4-9453-F78001CF2F48}"/>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C9D5EF"/>
                </a:solidFill>
                <a:latin typeface="DejaVu Sans"/>
                <a:ea typeface="DejaVu Sans"/>
                <a:cs typeface="DejaVu Sans"/>
              </a:defRPr>
            </a:defPPr>
          </a:lstStyle>
          <a:p xmlns:a="http://schemas.openxmlformats.org/drawingml/2006/main">
            <a:pPr algn="r">
              <a:defRPr sz="1275" b="0">
                <a:solidFill>
                  <a:srgbClr val="C9D5EF"/>
                </a:solidFill>
                <a:latin typeface="DejaVu Sans"/>
                <a:ea typeface="DejaVu Sans"/>
                <a:cs typeface="DejaVu Sans"/>
              </a:defRPr>
            </a:pPr>
            <a:r>
              <a:rPr sz="1275" b="0">
                <a:solidFill>
                  <a:srgbClr val="C9D5EF"/>
                </a:solidFill>
                <a:latin typeface="DejaVu Sans"/>
                <a:ea typeface="DejaVu Sans"/>
                <a:cs typeface="DejaVu Sans"/>
              </a:rPr>
              <a:t>01 / 12</a:t>
            </a:r>
          </a:p>
        </p:txBody>
      </p:sp>
    </p:spTree>
    <p:extLst>
      <p:ext uri="{BB962C8B-B14F-4D97-AF65-F5344CB8AC3E}">
        <p14:creationId xmlns:p14="http://schemas.microsoft.com/office/powerpoint/2010/main" val="575000314"/>
      </p:ext>
    </p:extLst>
  </p:cSld>
</p:sld>
</file>

<file path=ppt/slides/slide2.xml><?xml version="1.0" encoding="utf-8"?>
<p:sld xmlns:p="http://schemas.openxmlformats.org/presentationml/2006/main">
  <p:cSld>
    <p:bg>
      <p:bgPr>
        <a:solidFill xmlns:a="http://schemas.openxmlformats.org/drawingml/2006/main">
          <a:srgbClr val="F5F7FC"/>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2E483CA-79F7-490B-A8AC-D35F47F5708E}"/>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240"/>
                </a:solidFill>
                <a:latin typeface="DejaVu Sans"/>
                <a:ea typeface="DejaVu Sans"/>
                <a:cs typeface="DejaVu Sans"/>
              </a:defRPr>
            </a:defPPr>
          </a:lstStyle>
          <a:p xmlns:a="http://schemas.openxmlformats.org/drawingml/2006/main">
            <a:pPr algn="l">
              <a:defRPr sz="3450" b="1">
                <a:solidFill>
                  <a:srgbClr val="142240"/>
                </a:solidFill>
                <a:latin typeface="DejaVu Sans"/>
                <a:ea typeface="DejaVu Sans"/>
                <a:cs typeface="DejaVu Sans"/>
              </a:defRPr>
            </a:pPr>
            <a:r>
              <a:rPr sz="3450" b="1">
                <a:solidFill>
                  <a:srgbClr val="142240"/>
                </a:solidFill>
                <a:latin typeface="DejaVu Sans"/>
                <a:ea typeface="DejaVu Sans"/>
                <a:cs typeface="DejaVu Sans"/>
              </a:rPr>
              <a:t>What I set out to do</a:t>
            </a:r>
          </a:p>
        </p:txBody>
      </p:sp>
      <p:sp>
        <p:nvSpPr>
          <p:cNvPr id="2" name="text">
            <a:extLst xmlns:a="http://schemas.openxmlformats.org/drawingml/2006/main">
              <a:ext uri="{FF2B5EF4-FFF2-40B4-BE49-F238E27FC236}">
                <a16:creationId xmlns:a16="http://schemas.microsoft.com/office/drawing/2014/main" id="{6A961F0A-1133-44D3-BB7C-6F26A5966824}"/>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I wanted to compare the six stocks, explain the signals and check whether the price changes were fair comparisons.</a:t>
            </a:r>
          </a:p>
        </p:txBody>
      </p:sp>
      <p:sp>
        <p:nvSpPr>
          <p:cNvPr id="3" name="text">
            <a:extLst xmlns:a="http://schemas.openxmlformats.org/drawingml/2006/main">
              <a:ext uri="{FF2B5EF4-FFF2-40B4-BE49-F238E27FC236}">
                <a16:creationId xmlns:a16="http://schemas.microsoft.com/office/drawing/2014/main" id="{DD0F3809-AA31-45F0-8C13-77FB2B21EA88}"/>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D"/>
                </a:solidFill>
                <a:latin typeface="DejaVu Sans"/>
                <a:ea typeface="DejaVu Sans"/>
                <a:cs typeface="DejaVu Sans"/>
              </a:defRPr>
            </a:defPPr>
          </a:lstStyle>
          <a:p xmlns:a="http://schemas.openxmlformats.org/drawingml/2006/main">
            <a:pPr algn="l">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48A6C1C1-2D6F-4923-9E1C-5019AF8EACBB}"/>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8D"/>
                </a:solidFill>
                <a:latin typeface="DejaVu Sans"/>
                <a:ea typeface="DejaVu Sans"/>
                <a:cs typeface="DejaVu Sans"/>
              </a:defRPr>
            </a:defPPr>
          </a:lstStyle>
          <a:p xmlns:a="http://schemas.openxmlformats.org/drawingml/2006/main">
            <a:pPr algn="r">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02 / 12</a:t>
            </a:r>
          </a:p>
        </p:txBody>
      </p:sp>
      <p:graphicFrame>
        <p:nvGraphicFramePr>
          <p:cNvPr id="5" name="">
            <a:extLst xmlns:a="http://schemas.openxmlformats.org/drawingml/2006/main">
              <a:ext uri="{FF2B5EF4-FFF2-40B4-BE49-F238E27FC236}">
                <a16:creationId xmlns:a16="http://schemas.microsoft.com/office/drawing/2014/main" id="{377C52B6-F2B7-418E-B697-17354BE886CD}"/>
              </a:ext>
            </a:extLst>
          </p:cNvPr>
          <p:cNvGraphicFramePr/>
          <p:nvPr/>
        </p:nvGraphicFramePr>
        <p:xfrm>
          <a:off xmlns:a="http://schemas.openxmlformats.org/drawingml/2006/main" x="571500" y="1933575"/>
          <a:ext xmlns:a="http://schemas.openxmlformats.org/drawingml/2006/main" cx="6905625" cy="5143500"/>
        </p:xfrm>
        <a:graphic xmlns:a="http://schemas.openxmlformats.org/drawingml/2006/main">
          <a:graphicData uri="http://schemas.openxmlformats.org/drawingml/2006/table">
            <a:tbl>
              <a:tblPr/>
              <a:tblGrid>
                <a:gridCol w="666750"/>
                <a:gridCol w="3314700"/>
                <a:gridCol w="2924175"/>
              </a:tblGrid>
              <a:tr h="533400">
                <a:tc>
                  <a:txBody>
                    <a:bodyPr>
                      <a:noAutofit/>
                    </a:bodyPr>
                    <a:lstStyle/>
                    <a:p>
                      <a:r>
                        <a:rPr sz="1725" b="1">
                          <a:solidFill>
                            <a:srgbClr val="FFFFFF"/>
                          </a:solidFill>
                          <a:latin typeface="DejaVu Sans"/>
                          <a:ea typeface="DejaVu Sans"/>
                          <a:cs typeface="DejaVu Sans"/>
                        </a:rPr>
                        <a:t>ID</a:t>
                      </a:r>
                    </a:p>
                  </a:txBody>
                  <a:tcPr marL="114300" marR="95250" marT="47625" marB="47625" anchor="ctr">
                    <a:solidFill>
                      <a:srgbClr val="4F46E5"/>
                    </a:solidFill>
                  </a:tcPr>
                </a:tc>
                <a:tc>
                  <a:txBody>
                    <a:bodyPr>
                      <a:noAutofit/>
                    </a:bodyPr>
                    <a:lstStyle/>
                    <a:p>
                      <a:r>
                        <a:rPr sz="1725" b="1">
                          <a:solidFill>
                            <a:srgbClr val="FFFFFF"/>
                          </a:solidFill>
                          <a:latin typeface="DejaVu Sans"/>
                          <a:ea typeface="DejaVu Sans"/>
                          <a:cs typeface="DejaVu Sans"/>
                        </a:rPr>
                        <a:t>SQL analysis</a:t>
                      </a:r>
                    </a:p>
                  </a:txBody>
                  <a:tcPr marL="114300" marR="95250" marT="47625" marB="47625" anchor="ctr">
                    <a:solidFill>
                      <a:srgbClr val="4F46E5"/>
                    </a:solidFill>
                  </a:tcPr>
                </a:tc>
                <a:tc>
                  <a:txBody>
                    <a:bodyPr>
                      <a:noAutofit/>
                    </a:bodyPr>
                    <a:lstStyle/>
                    <a:p>
                      <a:r>
                        <a:rPr sz="1725" b="1">
                          <a:solidFill>
                            <a:srgbClr val="FFFFFF"/>
                          </a:solidFill>
                          <a:latin typeface="DejaVu Sans"/>
                          <a:ea typeface="DejaVu Sans"/>
                          <a:cs typeface="DejaVu Sans"/>
                        </a:rPr>
                        <a:t>Check or output</a:t>
                      </a:r>
                    </a:p>
                  </a:txBody>
                  <a:tcPr marL="114300" marR="95250" marT="47625" marB="47625" anchor="ctr">
                    <a:solidFill>
                      <a:srgbClr val="4F46E5"/>
                    </a:solidFill>
                  </a:tcPr>
                </a:tc>
              </a:tr>
              <a:tr h="658586">
                <a:tc>
                  <a:txBody>
                    <a:bodyPr>
                      <a:noAutofit/>
                    </a:bodyPr>
                    <a:lstStyle/>
                    <a:p>
                      <a:r>
                        <a:rPr sz="1725" b="0">
                          <a:solidFill>
                            <a:srgbClr val="142240"/>
                          </a:solidFill>
                          <a:latin typeface="DejaVu Sans"/>
                          <a:ea typeface="DejaVu Sans"/>
                          <a:cs typeface="DejaVu Sans"/>
                        </a:rPr>
                        <a:t>01</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History coverage</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889 trading dates</a:t>
                      </a:r>
                    </a:p>
                  </a:txBody>
                  <a:tcPr marL="114300" marR="95250" marT="47625" marB="47625" anchor="ctr">
                    <a:solidFill>
                      <a:srgbClr val="FFFFFF"/>
                    </a:solidFill>
                  </a:tcPr>
                </a:tc>
              </a:tr>
              <a:tr h="658586">
                <a:tc>
                  <a:txBody>
                    <a:bodyPr>
                      <a:noAutofit/>
                    </a:bodyPr>
                    <a:lstStyle/>
                    <a:p>
                      <a:r>
                        <a:rPr sz="1725" b="0">
                          <a:solidFill>
                            <a:srgbClr val="142240"/>
                          </a:solidFill>
                          <a:latin typeface="DejaVu Sans"/>
                          <a:ea typeface="DejaVu Sans"/>
                          <a:cs typeface="DejaVu Sans"/>
                        </a:rPr>
                        <a:t>02</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Five highest Eicher closes</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Peak: INR 32,786.40</a:t>
                      </a:r>
                    </a:p>
                  </a:txBody>
                  <a:tcPr marL="114300" marR="95250" marT="47625" marB="47625" anchor="ctr">
                    <a:solidFill>
                      <a:srgbClr val="EBEFF8"/>
                    </a:solidFill>
                  </a:tcPr>
                </a:tc>
              </a:tr>
              <a:tr h="658586">
                <a:tc>
                  <a:txBody>
                    <a:bodyPr>
                      <a:noAutofit/>
                    </a:bodyPr>
                    <a:lstStyle/>
                    <a:p>
                      <a:r>
                        <a:rPr sz="1725" b="0">
                          <a:solidFill>
                            <a:srgbClr val="142240"/>
                          </a:solidFill>
                          <a:latin typeface="DejaVu Sans"/>
                          <a:ea typeface="DejaVu Sans"/>
                          <a:cs typeface="DejaVu Sans"/>
                        </a:rPr>
                        <a:t>03</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TCS average by year</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2018 partial year:</a:t>
                      </a:r>
                    </a:p>
                    <a:p>
                      <a:r>
                        <a:rPr sz="1725" b="0">
                          <a:solidFill>
                            <a:srgbClr val="142240"/>
                          </a:solidFill>
                          <a:latin typeface="DejaVu Sans"/>
                          <a:ea typeface="DejaVu Sans"/>
                          <a:cs typeface="DejaVu Sans"/>
                        </a:rPr>
                        <a:t>INR 2,729.12</a:t>
                      </a:r>
                    </a:p>
                  </a:txBody>
                  <a:tcPr marL="114300" marR="95250" marT="47625" marB="47625" anchor="ctr">
                    <a:solidFill>
                      <a:srgbClr val="FFFFFF"/>
                    </a:solidFill>
                  </a:tcPr>
                </a:tc>
              </a:tr>
              <a:tr h="658586">
                <a:tc>
                  <a:txBody>
                    <a:bodyPr>
                      <a:noAutofit/>
                    </a:bodyPr>
                    <a:lstStyle/>
                    <a:p>
                      <a:r>
                        <a:rPr sz="1725" b="0">
                          <a:solidFill>
                            <a:srgbClr val="142240"/>
                          </a:solidFill>
                          <a:latin typeface="DejaVu Sans"/>
                          <a:ea typeface="DejaVu Sans"/>
                          <a:cs typeface="DejaVu Sans"/>
                        </a:rPr>
                        <a:t>04</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Missing delivery records</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Six rows kept as NULL</a:t>
                      </a:r>
                    </a:p>
                  </a:txBody>
                  <a:tcPr marL="114300" marR="95250" marT="47625" marB="47625" anchor="ctr">
                    <a:solidFill>
                      <a:srgbClr val="EBEFF8"/>
                    </a:solidFill>
                  </a:tcPr>
                </a:tc>
              </a:tr>
              <a:tr h="658586">
                <a:tc>
                  <a:txBody>
                    <a:bodyPr>
                      <a:noAutofit/>
                    </a:bodyPr>
                    <a:lstStyle/>
                    <a:p>
                      <a:r>
                        <a:rPr sz="1725" b="0">
                          <a:solidFill>
                            <a:srgbClr val="142240"/>
                          </a:solidFill>
                          <a:latin typeface="DejaVu Sans"/>
                          <a:ea typeface="DejaVu Sans"/>
                          <a:cs typeface="DejaVu Sans"/>
                        </a:rPr>
                        <a:t>05</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Bajaj 20/50-day averages</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Full windows only</a:t>
                      </a:r>
                    </a:p>
                  </a:txBody>
                  <a:tcPr marL="114300" marR="95250" marT="47625" marB="47625" anchor="ctr">
                    <a:solidFill>
                      <a:srgbClr val="FFFFFF"/>
                    </a:solidFill>
                  </a:tcPr>
                </a:tc>
              </a:tr>
              <a:tr h="658586">
                <a:tc>
                  <a:txBody>
                    <a:bodyPr>
                      <a:noAutofit/>
                    </a:bodyPr>
                    <a:lstStyle/>
                    <a:p>
                      <a:r>
                        <a:rPr sz="1725" b="0">
                          <a:solidFill>
                            <a:srgbClr val="142240"/>
                          </a:solidFill>
                          <a:latin typeface="DejaVu Sans"/>
                          <a:ea typeface="DejaVu Sans"/>
                          <a:cs typeface="DejaVu Sans"/>
                        </a:rPr>
                        <a:t>06</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Join six closes by date</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889 master-table rows</a:t>
                      </a:r>
                    </a:p>
                  </a:txBody>
                  <a:tcPr marL="114300" marR="95250" marT="47625" marB="47625" anchor="ctr">
                    <a:solidFill>
                      <a:srgbClr val="EBEFF8"/>
                    </a:solidFill>
                  </a:tcPr>
                </a:tc>
              </a:tr>
              <a:tr h="658586">
                <a:tc>
                  <a:txBody>
                    <a:bodyPr>
                      <a:noAutofit/>
                    </a:bodyPr>
                    <a:lstStyle/>
                    <a:p>
                      <a:r>
                        <a:rPr sz="1725" b="0">
                          <a:solidFill>
                            <a:srgbClr val="142240"/>
                          </a:solidFill>
                          <a:latin typeface="DejaVu Sans"/>
                          <a:ea typeface="DejaVu Sans"/>
                          <a:cs typeface="DejaVu Sans"/>
                        </a:rPr>
                        <a:t>07</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Create Bajaj signals</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Buy, Sell and Hold</a:t>
                      </a:r>
                    </a:p>
                  </a:txBody>
                  <a:tcPr marL="114300" marR="95250" marT="47625" marB="47625" anchor="ctr">
                    <a:solidFill>
                      <a:srgbClr val="FFFFF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FD1D1027-1E06-4C92-A0CD-FD1E028DA445}"/>
              </a:ext>
            </a:extLst>
          </p:cNvPr>
          <p:cNvGraphicFramePr/>
          <p:nvPr/>
        </p:nvGraphicFramePr>
        <p:xfrm>
          <a:off xmlns:a="http://schemas.openxmlformats.org/drawingml/2006/main" x="7810500" y="1933575"/>
          <a:ext xmlns:a="http://schemas.openxmlformats.org/drawingml/2006/main" cx="6858000" cy="5143500"/>
        </p:xfrm>
        <a:graphic xmlns:a="http://schemas.openxmlformats.org/drawingml/2006/main">
          <a:graphicData uri="http://schemas.openxmlformats.org/drawingml/2006/table">
            <a:tbl>
              <a:tblPr/>
              <a:tblGrid>
                <a:gridCol w="666750"/>
                <a:gridCol w="3143250"/>
                <a:gridCol w="3048000"/>
              </a:tblGrid>
              <a:tr h="533400">
                <a:tc>
                  <a:txBody>
                    <a:bodyPr>
                      <a:noAutofit/>
                    </a:bodyPr>
                    <a:lstStyle/>
                    <a:p>
                      <a:r>
                        <a:rPr sz="1725" b="1">
                          <a:solidFill>
                            <a:srgbClr val="FFFFFF"/>
                          </a:solidFill>
                          <a:latin typeface="DejaVu Sans"/>
                          <a:ea typeface="DejaVu Sans"/>
                          <a:cs typeface="DejaVu Sans"/>
                        </a:rPr>
                        <a:t>ID</a:t>
                      </a:r>
                    </a:p>
                  </a:txBody>
                  <a:tcPr marL="114300" marR="95250" marT="47625" marB="47625" anchor="ctr">
                    <a:solidFill>
                      <a:srgbClr val="4F46E5"/>
                    </a:solidFill>
                  </a:tcPr>
                </a:tc>
                <a:tc>
                  <a:txBody>
                    <a:bodyPr>
                      <a:noAutofit/>
                    </a:bodyPr>
                    <a:lstStyle/>
                    <a:p>
                      <a:r>
                        <a:rPr sz="1725" b="1">
                          <a:solidFill>
                            <a:srgbClr val="FFFFFF"/>
                          </a:solidFill>
                          <a:latin typeface="DejaVu Sans"/>
                          <a:ea typeface="DejaVu Sans"/>
                          <a:cs typeface="DejaVu Sans"/>
                        </a:rPr>
                        <a:t>SQL analysis</a:t>
                      </a:r>
                    </a:p>
                  </a:txBody>
                  <a:tcPr marL="114300" marR="95250" marT="47625" marB="47625" anchor="ctr">
                    <a:solidFill>
                      <a:srgbClr val="4F46E5"/>
                    </a:solidFill>
                  </a:tcPr>
                </a:tc>
                <a:tc>
                  <a:txBody>
                    <a:bodyPr>
                      <a:noAutofit/>
                    </a:bodyPr>
                    <a:lstStyle/>
                    <a:p>
                      <a:r>
                        <a:rPr sz="1725" b="1">
                          <a:solidFill>
                            <a:srgbClr val="FFFFFF"/>
                          </a:solidFill>
                          <a:latin typeface="DejaVu Sans"/>
                          <a:ea typeface="DejaVu Sans"/>
                          <a:cs typeface="DejaVu Sans"/>
                        </a:rPr>
                        <a:t>Check or output</a:t>
                      </a:r>
                    </a:p>
                  </a:txBody>
                  <a:tcPr marL="114300" marR="95250" marT="47625" marB="47625" anchor="ctr">
                    <a:solidFill>
                      <a:srgbClr val="4F46E5"/>
                    </a:solidFill>
                  </a:tcPr>
                </a:tc>
              </a:tr>
              <a:tr h="768350">
                <a:tc>
                  <a:txBody>
                    <a:bodyPr>
                      <a:noAutofit/>
                    </a:bodyPr>
                    <a:lstStyle/>
                    <a:p>
                      <a:r>
                        <a:rPr sz="1725" b="0">
                          <a:solidFill>
                            <a:srgbClr val="142240"/>
                          </a:solidFill>
                          <a:latin typeface="DejaVu Sans"/>
                          <a:ea typeface="DejaVu Sans"/>
                          <a:cs typeface="DejaVu Sans"/>
                        </a:rPr>
                        <a:t>08</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Count Bajaj signals</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12 Buy, 11 Sell,</a:t>
                      </a:r>
                    </a:p>
                    <a:p>
                      <a:r>
                        <a:rPr sz="1725" b="0">
                          <a:solidFill>
                            <a:srgbClr val="142240"/>
                          </a:solidFill>
                          <a:latin typeface="DejaVu Sans"/>
                          <a:ea typeface="DejaVu Sans"/>
                          <a:cs typeface="DejaVu Sans"/>
                        </a:rPr>
                        <a:t>866 Hold</a:t>
                      </a:r>
                    </a:p>
                  </a:txBody>
                  <a:tcPr marL="114300" marR="95250" marT="47625" marB="47625" anchor="ctr">
                    <a:solidFill>
                      <a:srgbClr val="FFFFFF"/>
                    </a:solidFill>
                  </a:tcPr>
                </a:tc>
              </a:tr>
              <a:tr h="768350">
                <a:tc>
                  <a:txBody>
                    <a:bodyPr>
                      <a:noAutofit/>
                    </a:bodyPr>
                    <a:lstStyle/>
                    <a:p>
                      <a:r>
                        <a:rPr sz="1725" b="0">
                          <a:solidFill>
                            <a:srgbClr val="142240"/>
                          </a:solidFill>
                          <a:latin typeface="DejaVu Sans"/>
                          <a:ea typeface="DejaVu Sans"/>
                          <a:cs typeface="DejaVu Sans"/>
                        </a:rPr>
                        <a:t>09</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Bajaj signal function</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21 Jun 2018: Buy</a:t>
                      </a:r>
                    </a:p>
                  </a:txBody>
                  <a:tcPr marL="114300" marR="95250" marT="47625" marB="47625" anchor="ctr">
                    <a:solidFill>
                      <a:srgbClr val="EBEFF8"/>
                    </a:solidFill>
                  </a:tcPr>
                </a:tc>
              </a:tr>
              <a:tr h="768350">
                <a:tc>
                  <a:txBody>
                    <a:bodyPr>
                      <a:noAutofit/>
                    </a:bodyPr>
                    <a:lstStyle/>
                    <a:p>
                      <a:r>
                        <a:rPr sz="1725" b="0">
                          <a:solidFill>
                            <a:srgbClr val="142240"/>
                          </a:solidFill>
                          <a:latin typeface="DejaVu Sans"/>
                          <a:ea typeface="DejaVu Sans"/>
                          <a:cs typeface="DejaVu Sans"/>
                        </a:rPr>
                        <a:t>10</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Six-stock signal summary</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Raw: 56 Buy, 57 Sell</a:t>
                      </a:r>
                    </a:p>
                  </a:txBody>
                  <a:tcPr marL="114300" marR="95250" marT="47625" marB="47625" anchor="ctr">
                    <a:solidFill>
                      <a:srgbClr val="FFFFFF"/>
                    </a:solidFill>
                  </a:tcPr>
                </a:tc>
              </a:tr>
              <a:tr h="768350">
                <a:tc>
                  <a:txBody>
                    <a:bodyPr>
                      <a:noAutofit/>
                    </a:bodyPr>
                    <a:lstStyle/>
                    <a:p>
                      <a:r>
                        <a:rPr sz="1725" b="0">
                          <a:solidFill>
                            <a:srgbClr val="142240"/>
                          </a:solidFill>
                          <a:latin typeface="DejaVu Sans"/>
                          <a:ea typeface="DejaVu Sans"/>
                          <a:cs typeface="DejaVu Sans"/>
                        </a:rPr>
                        <a:t>11</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Full-period raw change</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100 × (last / first − 1)</a:t>
                      </a:r>
                    </a:p>
                  </a:txBody>
                  <a:tcPr marL="114300" marR="95250" marT="47625" marB="47625" anchor="ctr">
                    <a:solidFill>
                      <a:srgbClr val="EBEFF8"/>
                    </a:solidFill>
                  </a:tcPr>
                </a:tc>
              </a:tr>
              <a:tr h="768350">
                <a:tc>
                  <a:txBody>
                    <a:bodyPr>
                      <a:noAutofit/>
                    </a:bodyPr>
                    <a:lstStyle/>
                    <a:p>
                      <a:r>
                        <a:rPr sz="1725" b="0">
                          <a:solidFill>
                            <a:srgbClr val="142240"/>
                          </a:solidFill>
                          <a:latin typeface="DejaVu Sans"/>
                          <a:ea typeface="DejaVu Sans"/>
                          <a:cs typeface="DejaVu Sans"/>
                        </a:rPr>
                        <a:t>12</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Worst daily raw move</a:t>
                      </a:r>
                    </a:p>
                  </a:txBody>
                  <a:tcPr marL="114300" marR="95250" marT="47625" marB="47625" anchor="ctr">
                    <a:solidFill>
                      <a:srgbClr val="FFFFFF"/>
                    </a:solidFill>
                  </a:tcPr>
                </a:tc>
                <a:tc>
                  <a:txBody>
                    <a:bodyPr>
                      <a:noAutofit/>
                    </a:bodyPr>
                    <a:lstStyle/>
                    <a:p>
                      <a:r>
                        <a:rPr sz="1725" b="0">
                          <a:solidFill>
                            <a:srgbClr val="142240"/>
                          </a:solidFill>
                          <a:latin typeface="DejaVu Sans"/>
                          <a:ea typeface="DejaVu Sans"/>
                          <a:cs typeface="DejaVu Sans"/>
                        </a:rPr>
                        <a:t>IT price cliffs near −50%</a:t>
                      </a:r>
                    </a:p>
                  </a:txBody>
                  <a:tcPr marL="114300" marR="95250" marT="47625" marB="47625" anchor="ctr">
                    <a:solidFill>
                      <a:srgbClr val="FFFFFF"/>
                    </a:solidFill>
                  </a:tcPr>
                </a:tc>
              </a:tr>
              <a:tr h="768350">
                <a:tc>
                  <a:txBody>
                    <a:bodyPr>
                      <a:noAutofit/>
                    </a:bodyPr>
                    <a:lstStyle/>
                    <a:p>
                      <a:r>
                        <a:rPr sz="1725" b="0">
                          <a:solidFill>
                            <a:srgbClr val="142240"/>
                          </a:solidFill>
                          <a:latin typeface="DejaVu Sans"/>
                          <a:ea typeface="DejaVu Sans"/>
                          <a:cs typeface="DejaVu Sans"/>
                        </a:rPr>
                        <a:t>13</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Bonus-adjusted IT change</a:t>
                      </a:r>
                    </a:p>
                  </a:txBody>
                  <a:tcPr marL="114300" marR="95250" marT="47625" marB="47625" anchor="ctr">
                    <a:solidFill>
                      <a:srgbClr val="EBEFF8"/>
                    </a:solidFill>
                  </a:tcPr>
                </a:tc>
                <a:tc>
                  <a:txBody>
                    <a:bodyPr>
                      <a:noAutofit/>
                    </a:bodyPr>
                    <a:lstStyle/>
                    <a:p>
                      <a:r>
                        <a:rPr sz="1725" b="0">
                          <a:solidFill>
                            <a:srgbClr val="142240"/>
                          </a:solidFill>
                          <a:latin typeface="DejaVu Sans"/>
                          <a:ea typeface="DejaVu Sans"/>
                          <a:cs typeface="DejaVu Sans"/>
                        </a:rPr>
                        <a:t>Infosys +38.17%</a:t>
                      </a:r>
                    </a:p>
                    <a:p>
                      <a:r>
                        <a:rPr sz="1725" b="0">
                          <a:solidFill>
                            <a:srgbClr val="142240"/>
                          </a:solidFill>
                          <a:latin typeface="DejaVu Sans"/>
                          <a:ea typeface="DejaVu Sans"/>
                          <a:cs typeface="DejaVu Sans"/>
                        </a:rPr>
                        <a:t>TCS +52.36%</a:t>
                      </a:r>
                    </a:p>
                  </a:txBody>
                  <a:tcPr marL="114300" marR="95250" marT="47625" marB="47625" anchor="ctr">
                    <a:solidFill>
                      <a:srgbClr val="EBEFF8"/>
                    </a:solidFill>
                  </a:tcPr>
                </a:tc>
              </a:tr>
            </a:tbl>
          </a:graphicData>
        </a:graphic>
      </p:graphicFrame>
      <p:sp>
        <p:nvSpPr>
          <p:cNvPr id="7" name="text">
            <a:extLst xmlns:a="http://schemas.openxmlformats.org/drawingml/2006/main">
              <a:ext uri="{FF2B5EF4-FFF2-40B4-BE49-F238E27FC236}">
                <a16:creationId xmlns:a16="http://schemas.microsoft.com/office/drawing/2014/main" id="{A16CCDA4-602A-4E9E-A8E4-BC56582775B5}"/>
              </a:ext>
            </a:extLst>
          </p:cNvPr>
          <p:cNvSpPr>
            <a:spLocks xmlns:a="http://schemas.openxmlformats.org/drawingml/2006/main" noGrp="1"/>
          </p:cNvSpPr>
          <p:nvPr/>
        </p:nvSpPr>
        <p:spPr>
          <a:xfrm xmlns:a="http://schemas.openxmlformats.org/drawingml/2006/main">
            <a:off x="571500" y="7362825"/>
            <a:ext cx="1409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4F46E5"/>
                </a:solidFill>
                <a:latin typeface="DejaVu Sans"/>
                <a:ea typeface="DejaVu Sans"/>
                <a:cs typeface="DejaVu Sans"/>
              </a:defRPr>
            </a:defPPr>
          </a:lstStyle>
          <a:p xmlns:a="http://schemas.openxmlformats.org/drawingml/2006/main">
            <a:pPr algn="l">
              <a:defRPr sz="1950" b="1">
                <a:solidFill>
                  <a:srgbClr val="4F46E5"/>
                </a:solidFill>
                <a:latin typeface="DejaVu Sans"/>
                <a:ea typeface="DejaVu Sans"/>
                <a:cs typeface="DejaVu Sans"/>
              </a:defRPr>
            </a:pPr>
            <a:r>
              <a:rPr sz="1950" b="1">
                <a:solidFill>
                  <a:srgbClr val="4F46E5"/>
                </a:solidFill>
                <a:latin typeface="DejaVu Sans"/>
                <a:ea typeface="DejaVu Sans"/>
                <a:cs typeface="DejaVu Sans"/>
              </a:rPr>
              <a:t>Required submission: MySQL SQL file, insights PDF and a short walkthrough video.</a:t>
            </a:r>
          </a:p>
        </p:txBody>
      </p:sp>
      <p:sp>
        <p:nvSpPr>
          <p:cNvPr id="8" name="text">
            <a:extLst xmlns:a="http://schemas.openxmlformats.org/drawingml/2006/main">
              <a:ext uri="{FF2B5EF4-FFF2-40B4-BE49-F238E27FC236}">
                <a16:creationId xmlns:a16="http://schemas.microsoft.com/office/drawing/2014/main" id="{354CDD40-6B55-44AE-9C29-4D251D25CA72}"/>
              </a:ext>
            </a:extLst>
          </p:cNvPr>
          <p:cNvSpPr>
            <a:spLocks xmlns:a="http://schemas.openxmlformats.org/drawingml/2006/main" noGrp="1"/>
          </p:cNvSpPr>
          <p:nvPr/>
        </p:nvSpPr>
        <p:spPr>
          <a:xfrm xmlns:a="http://schemas.openxmlformats.org/drawingml/2006/main">
            <a:off x="571500" y="7791450"/>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0718D"/>
                </a:solidFill>
                <a:latin typeface="DejaVu Sans"/>
                <a:ea typeface="DejaVu Sans"/>
                <a:cs typeface="DejaVu Sans"/>
              </a:defRPr>
            </a:defPPr>
          </a:lstStyle>
          <a:p xmlns:a="http://schemas.openxmlformats.org/drawingml/2006/main">
            <a:pPr algn="l">
              <a:defRPr sz="1725" b="0">
                <a:solidFill>
                  <a:srgbClr val="60718D"/>
                </a:solidFill>
                <a:latin typeface="DejaVu Sans"/>
                <a:ea typeface="DejaVu Sans"/>
                <a:cs typeface="DejaVu Sans"/>
              </a:defRPr>
            </a:pPr>
            <a:r>
              <a:rPr sz="1725" b="0">
                <a:solidFill>
                  <a:srgbClr val="60718D"/>
                </a:solidFill>
                <a:latin typeface="DejaVu Sans"/>
                <a:ea typeface="DejaVu Sans"/>
                <a:cs typeface="DejaVu Sans"/>
              </a:rPr>
              <a:t>I also added adjusted signals, quick reversals, volatility, drawdown and an execution scenario.</a:t>
            </a:r>
          </a:p>
        </p:txBody>
      </p:sp>
    </p:spTree>
    <p:extLst>
      <p:ext uri="{BB962C8B-B14F-4D97-AF65-F5344CB8AC3E}">
        <p14:creationId xmlns:p14="http://schemas.microsoft.com/office/powerpoint/2010/main" val="1993495103"/>
      </p:ext>
    </p:extLst>
  </p:cSld>
</p:sld>
</file>

<file path=ppt/slides/slide3.xml><?xml version="1.0" encoding="utf-8"?>
<p:sld xmlns:p="http://schemas.openxmlformats.org/presentationml/2006/main">
  <p:cSld>
    <p:bg>
      <p:bgPr>
        <a:solidFill xmlns:a="http://schemas.openxmlformats.org/drawingml/2006/main">
          <a:srgbClr val="F5F7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E856E0A-B348-4C9A-821E-94D6CF8FC341}"/>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240"/>
                </a:solidFill>
                <a:latin typeface="DejaVu Sans"/>
                <a:ea typeface="DejaVu Sans"/>
                <a:cs typeface="DejaVu Sans"/>
              </a:defRPr>
            </a:defPPr>
          </a:lstStyle>
          <a:p xmlns:a="http://schemas.openxmlformats.org/drawingml/2006/main">
            <a:pPr algn="l">
              <a:defRPr sz="3450" b="1">
                <a:solidFill>
                  <a:srgbClr val="142240"/>
                </a:solidFill>
                <a:latin typeface="DejaVu Sans"/>
                <a:ea typeface="DejaVu Sans"/>
                <a:cs typeface="DejaVu Sans"/>
              </a:defRPr>
            </a:pPr>
            <a:r>
              <a:rPr sz="3450" b="1">
                <a:solidFill>
                  <a:srgbClr val="142240"/>
                </a:solidFill>
                <a:latin typeface="DejaVu Sans"/>
                <a:ea typeface="DejaVu Sans"/>
                <a:cs typeface="DejaVu Sans"/>
              </a:rPr>
              <a:t>The data I worked with</a:t>
            </a:r>
          </a:p>
        </p:txBody>
      </p:sp>
      <p:sp>
        <p:nvSpPr>
          <p:cNvPr id="2" name="text">
            <a:extLst xmlns:a="http://schemas.openxmlformats.org/drawingml/2006/main">
              <a:ext uri="{FF2B5EF4-FFF2-40B4-BE49-F238E27FC236}">
                <a16:creationId xmlns:a16="http://schemas.microsoft.com/office/drawing/2014/main" id="{C46CE5EA-D41D-48C1-A558-6D77CB65D56E}"/>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Six original CSV files contain 5,334 stock-day records over the same 889 trading dates.</a:t>
            </a:r>
          </a:p>
        </p:txBody>
      </p:sp>
      <p:sp>
        <p:nvSpPr>
          <p:cNvPr id="3" name="text">
            <a:extLst xmlns:a="http://schemas.openxmlformats.org/drawingml/2006/main">
              <a:ext uri="{FF2B5EF4-FFF2-40B4-BE49-F238E27FC236}">
                <a16:creationId xmlns:a16="http://schemas.microsoft.com/office/drawing/2014/main" id="{8D8FA208-F683-432A-B845-ABA726752799}"/>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D"/>
                </a:solidFill>
                <a:latin typeface="DejaVu Sans"/>
                <a:ea typeface="DejaVu Sans"/>
                <a:cs typeface="DejaVu Sans"/>
              </a:defRPr>
            </a:defPPr>
          </a:lstStyle>
          <a:p xmlns:a="http://schemas.openxmlformats.org/drawingml/2006/main">
            <a:pPr algn="l">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728E178D-6CA3-46D9-BF9D-DEB9697CCDC4}"/>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8D"/>
                </a:solidFill>
                <a:latin typeface="DejaVu Sans"/>
                <a:ea typeface="DejaVu Sans"/>
                <a:cs typeface="DejaVu Sans"/>
              </a:defRPr>
            </a:defPPr>
          </a:lstStyle>
          <a:p xmlns:a="http://schemas.openxmlformats.org/drawingml/2006/main">
            <a:pPr algn="r">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03 / 12</a:t>
            </a:r>
          </a:p>
        </p:txBody>
      </p:sp>
      <p:pic>
        <p:nvPicPr>
          <p:cNvPr id="5" name="">
            <a:extLst xmlns:a="http://schemas.openxmlformats.org/drawingml/2006/main">
              <a:ext uri="{FF2B5EF4-FFF2-40B4-BE49-F238E27FC236}">
                <a16:creationId xmlns:a16="http://schemas.microsoft.com/office/drawing/2014/main" id="{4D929E75-21E7-4AB2-AEE5-EACC19DC2A66}"/>
              </a:ext>
            </a:extLst>
          </p:cNvPr>
          <p:cNvPicPr>
            <a:picLocks xmlns:a="http://schemas.openxmlformats.org/drawingml/2006/main" noChangeAspect="1"/>
          </p:cNvPicPr>
          <p:nvPr/>
        </p:nvPicPr>
        <p:blipFill>
          <a:blip xmlns:r="http://schemas.openxmlformats.org/officeDocument/2006/relationships" xmlns:a="http://schemas.openxmlformats.org/drawingml/2006/main" r:embed="R5b502f1053aa4f3b"/>
          <a:srcRect xmlns:a="http://schemas.openxmlformats.org/drawingml/2006/main" l="0" t="0" r="0" b="0"/>
          <a:stretch xmlns:a="http://schemas.openxmlformats.org/drawingml/2006/main"/>
        </p:blipFill>
        <p:spPr>
          <a:xfrm xmlns:a="http://schemas.openxmlformats.org/drawingml/2006/main">
            <a:off x="571500" y="1738563"/>
            <a:ext cx="10382250" cy="583832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D27448D8-BAD5-4646-A2CA-0F0A5367ABC7}"/>
              </a:ext>
            </a:extLst>
          </p:cNvPr>
          <p:cNvPicPr>
            <a:picLocks xmlns:a="http://schemas.openxmlformats.org/drawingml/2006/main" noChangeAspect="1"/>
          </p:cNvPicPr>
          <p:nvPr/>
        </p:nvPicPr>
        <p:blipFill>
          <a:blip xmlns:r="http://schemas.openxmlformats.org/officeDocument/2006/relationships" xmlns:a="http://schemas.openxmlformats.org/drawingml/2006/main" r:embed="R7b8dd1775efe4a24"/>
          <a:srcRect xmlns:a="http://schemas.openxmlformats.org/drawingml/2006/main" l="0" t="0" r="0" b="0"/>
          <a:stretch xmlns:a="http://schemas.openxmlformats.org/drawingml/2006/main"/>
        </p:blipFill>
        <p:spPr>
          <a:xfrm xmlns:a="http://schemas.openxmlformats.org/drawingml/2006/main">
            <a:off x="11746230" y="1743075"/>
            <a:ext cx="2606040" cy="180975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59983CB8-BBF9-471F-BFC6-48C1ABB15266}"/>
              </a:ext>
            </a:extLst>
          </p:cNvPr>
          <p:cNvSpPr>
            <a:spLocks xmlns:a="http://schemas.openxmlformats.org/drawingml/2006/main" noGrp="1"/>
          </p:cNvSpPr>
          <p:nvPr/>
        </p:nvSpPr>
        <p:spPr>
          <a:xfrm xmlns:a="http://schemas.openxmlformats.org/drawingml/2006/main">
            <a:off x="11430000" y="38100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F46E5"/>
                </a:solidFill>
                <a:latin typeface="DejaVu Sans"/>
                <a:ea typeface="DejaVu Sans"/>
                <a:cs typeface="DejaVu Sans"/>
              </a:defRPr>
            </a:defPPr>
          </a:lstStyle>
          <a:p xmlns:a="http://schemas.openxmlformats.org/drawingml/2006/main">
            <a:pPr algn="l">
              <a:defRPr sz="2175" b="1">
                <a:solidFill>
                  <a:srgbClr val="4F46E5"/>
                </a:solidFill>
                <a:latin typeface="DejaVu Sans"/>
                <a:ea typeface="DejaVu Sans"/>
                <a:cs typeface="DejaVu Sans"/>
              </a:defRPr>
            </a:pPr>
            <a:r>
              <a:rPr sz="2175" b="1">
                <a:solidFill>
                  <a:srgbClr val="4F46E5"/>
                </a:solidFill>
                <a:latin typeface="DejaVu Sans"/>
                <a:ea typeface="DejaVu Sans"/>
                <a:cs typeface="DejaVu Sans"/>
              </a:rPr>
              <a:t>My data checks</a:t>
            </a:r>
          </a:p>
        </p:txBody>
      </p:sp>
      <p:sp>
        <p:nvSpPr>
          <p:cNvPr id="8" name="text">
            <a:extLst xmlns:a="http://schemas.openxmlformats.org/drawingml/2006/main">
              <a:ext uri="{FF2B5EF4-FFF2-40B4-BE49-F238E27FC236}">
                <a16:creationId xmlns:a16="http://schemas.microsoft.com/office/drawing/2014/main" id="{76923B27-467C-4279-8EB7-598352826966}"/>
              </a:ext>
            </a:extLst>
          </p:cNvPr>
          <p:cNvSpPr>
            <a:spLocks xmlns:a="http://schemas.openxmlformats.org/drawingml/2006/main" noGrp="1"/>
          </p:cNvSpPr>
          <p:nvPr/>
        </p:nvSpPr>
        <p:spPr>
          <a:xfrm xmlns:a="http://schemas.openxmlformats.org/drawingml/2006/main">
            <a:off x="11430000" y="4286250"/>
            <a:ext cx="3238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240"/>
                </a:solidFill>
                <a:latin typeface="DejaVu Sans"/>
                <a:ea typeface="DejaVu Sans"/>
                <a:cs typeface="DejaVu Sans"/>
              </a:defRPr>
            </a:defPPr>
          </a:lstStyle>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I kept the original files and their missing values.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Dates are unique and closing prices are complete.</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Each stock has one missing delivery record.</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I can search rows and export the full selection.</a:t>
            </a:r>
          </a:p>
        </p:txBody>
      </p:sp>
      <p:sp>
        <p:nvSpPr>
          <p:cNvPr id="9" name="text">
            <a:extLst xmlns:a="http://schemas.openxmlformats.org/drawingml/2006/main">
              <a:ext uri="{FF2B5EF4-FFF2-40B4-BE49-F238E27FC236}">
                <a16:creationId xmlns:a16="http://schemas.microsoft.com/office/drawing/2014/main" id="{F9ADA6DA-E46E-4641-BD45-990B2C664A97}"/>
              </a:ext>
            </a:extLst>
          </p:cNvPr>
          <p:cNvSpPr>
            <a:spLocks xmlns:a="http://schemas.openxmlformats.org/drawingml/2006/main" noGrp="1"/>
          </p:cNvSpPr>
          <p:nvPr/>
        </p:nvSpPr>
        <p:spPr>
          <a:xfrm xmlns:a="http://schemas.openxmlformats.org/drawingml/2006/main">
            <a:off x="571500" y="77343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18D"/>
                </a:solidFill>
                <a:latin typeface="DejaVu Sans"/>
                <a:ea typeface="DejaVu Sans"/>
                <a:cs typeface="DejaVu Sans"/>
              </a:defRPr>
            </a:defPPr>
          </a:lstStyle>
          <a:p xmlns:a="http://schemas.openxmlformats.org/drawingml/2006/main">
            <a:pPr algn="l">
              <a:defRPr sz="1500" b="0">
                <a:solidFill>
                  <a:srgbClr val="60718D"/>
                </a:solidFill>
                <a:latin typeface="DejaVu Sans"/>
                <a:ea typeface="DejaVu Sans"/>
                <a:cs typeface="DejaVu Sans"/>
              </a:defRPr>
            </a:pPr>
            <a:r>
              <a:rPr sz="1500" b="0">
                <a:solidFill>
                  <a:srgbClr val="60718D"/>
                </a:solidFill>
                <a:latin typeface="DejaVu Sans"/>
                <a:ea typeface="DejaVu Sans"/>
                <a:cs typeface="DejaVu Sans"/>
              </a:rPr>
              <a:t>Stocks: Bajaj Auto, Eicher Motors, Hero Motocorp, Infosys, TCS and TVS Motors.</a:t>
            </a:r>
          </a:p>
        </p:txBody>
      </p:sp>
    </p:spTree>
    <p:extLst>
      <p:ext uri="{BB962C8B-B14F-4D97-AF65-F5344CB8AC3E}">
        <p14:creationId xmlns:p14="http://schemas.microsoft.com/office/powerpoint/2010/main" val="547689448"/>
      </p:ext>
    </p:extLst>
  </p:cSld>
</p:sld>
</file>

<file path=ppt/slides/slide4.xml><?xml version="1.0" encoding="utf-8"?>
<p:sld xmlns:p="http://schemas.openxmlformats.org/presentationml/2006/main">
  <p:cSld>
    <p:bg>
      <p:bgPr>
        <a:solidFill xmlns:a="http://schemas.openxmlformats.org/drawingml/2006/main">
          <a:srgbClr val="F5F7FC"/>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73A02CE-BCBF-44AF-BC39-329EE16F3037}"/>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240"/>
                </a:solidFill>
                <a:latin typeface="DejaVu Sans"/>
                <a:ea typeface="DejaVu Sans"/>
                <a:cs typeface="DejaVu Sans"/>
              </a:defRPr>
            </a:defPPr>
          </a:lstStyle>
          <a:p xmlns:a="http://schemas.openxmlformats.org/drawingml/2006/main">
            <a:pPr algn="l">
              <a:defRPr sz="3450" b="1">
                <a:solidFill>
                  <a:srgbClr val="142240"/>
                </a:solidFill>
                <a:latin typeface="DejaVu Sans"/>
                <a:ea typeface="DejaVu Sans"/>
                <a:cs typeface="DejaVu Sans"/>
              </a:defRPr>
            </a:pPr>
            <a:r>
              <a:rPr sz="3450" b="1">
                <a:solidFill>
                  <a:srgbClr val="142240"/>
                </a:solidFill>
                <a:latin typeface="DejaVu Sans"/>
                <a:ea typeface="DejaVu Sans"/>
                <a:cs typeface="DejaVu Sans"/>
              </a:rPr>
              <a:t>The dashboard at a glance</a:t>
            </a:r>
          </a:p>
        </p:txBody>
      </p:sp>
      <p:sp>
        <p:nvSpPr>
          <p:cNvPr id="2" name="text">
            <a:extLst xmlns:a="http://schemas.openxmlformats.org/drawingml/2006/main">
              <a:ext uri="{FF2B5EF4-FFF2-40B4-BE49-F238E27FC236}">
                <a16:creationId xmlns:a16="http://schemas.microsoft.com/office/drawing/2014/main" id="{A7A4DD35-C427-435E-B27C-366925A306C9}"/>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I can compare stocks on the same starting scale and inspect the latest crossover in the selected period.</a:t>
            </a:r>
          </a:p>
        </p:txBody>
      </p:sp>
      <p:sp>
        <p:nvSpPr>
          <p:cNvPr id="3" name="text">
            <a:extLst xmlns:a="http://schemas.openxmlformats.org/drawingml/2006/main">
              <a:ext uri="{FF2B5EF4-FFF2-40B4-BE49-F238E27FC236}">
                <a16:creationId xmlns:a16="http://schemas.microsoft.com/office/drawing/2014/main" id="{458C7EDC-D272-4742-9C9D-4BC6B8AAEA03}"/>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D"/>
                </a:solidFill>
                <a:latin typeface="DejaVu Sans"/>
                <a:ea typeface="DejaVu Sans"/>
                <a:cs typeface="DejaVu Sans"/>
              </a:defRPr>
            </a:defPPr>
          </a:lstStyle>
          <a:p xmlns:a="http://schemas.openxmlformats.org/drawingml/2006/main">
            <a:pPr algn="l">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F01316E8-3B55-4643-8A15-B2EB28B2CA0C}"/>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8D"/>
                </a:solidFill>
                <a:latin typeface="DejaVu Sans"/>
                <a:ea typeface="DejaVu Sans"/>
                <a:cs typeface="DejaVu Sans"/>
              </a:defRPr>
            </a:defPPr>
          </a:lstStyle>
          <a:p xmlns:a="http://schemas.openxmlformats.org/drawingml/2006/main">
            <a:pPr algn="r">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04 / 12</a:t>
            </a:r>
          </a:p>
        </p:txBody>
      </p:sp>
      <p:pic>
        <p:nvPicPr>
          <p:cNvPr id="5" name="">
            <a:extLst xmlns:a="http://schemas.openxmlformats.org/drawingml/2006/main">
              <a:ext uri="{FF2B5EF4-FFF2-40B4-BE49-F238E27FC236}">
                <a16:creationId xmlns:a16="http://schemas.microsoft.com/office/drawing/2014/main" id="{BB4CE4E6-392D-4135-9AEF-9123AFF74D31}"/>
              </a:ext>
            </a:extLst>
          </p:cNvPr>
          <p:cNvPicPr>
            <a:picLocks xmlns:a="http://schemas.openxmlformats.org/drawingml/2006/main" noChangeAspect="1"/>
          </p:cNvPicPr>
          <p:nvPr/>
        </p:nvPicPr>
        <p:blipFill>
          <a:blip xmlns:r="http://schemas.openxmlformats.org/officeDocument/2006/relationships" xmlns:a="http://schemas.openxmlformats.org/drawingml/2006/main" r:embed="R9c98c49a9a204533"/>
          <a:srcRect xmlns:a="http://schemas.openxmlformats.org/drawingml/2006/main" l="0" t="0" r="0" b="0"/>
          <a:stretch xmlns:a="http://schemas.openxmlformats.org/drawingml/2006/main"/>
        </p:blipFill>
        <p:spPr>
          <a:xfrm xmlns:a="http://schemas.openxmlformats.org/drawingml/2006/main">
            <a:off x="573435" y="1733550"/>
            <a:ext cx="10378380" cy="584835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9C2DF72E-53C8-4AE1-92AB-3456C5FD5BB5}"/>
              </a:ext>
            </a:extLst>
          </p:cNvPr>
          <p:cNvSpPr>
            <a:spLocks xmlns:a="http://schemas.openxmlformats.org/drawingml/2006/main" noGrp="1"/>
          </p:cNvSpPr>
          <p:nvPr/>
        </p:nvSpPr>
        <p:spPr>
          <a:xfrm xmlns:a="http://schemas.openxmlformats.org/drawingml/2006/main">
            <a:off x="11430000" y="176212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F46E5"/>
                </a:solidFill>
                <a:latin typeface="DejaVu Sans"/>
                <a:ea typeface="DejaVu Sans"/>
                <a:cs typeface="DejaVu Sans"/>
              </a:defRPr>
            </a:defPPr>
          </a:lstStyle>
          <a:p xmlns:a="http://schemas.openxmlformats.org/drawingml/2006/main">
            <a:pPr algn="l">
              <a:defRPr sz="2175" b="1">
                <a:solidFill>
                  <a:srgbClr val="4F46E5"/>
                </a:solidFill>
                <a:latin typeface="DejaVu Sans"/>
                <a:ea typeface="DejaVu Sans"/>
                <a:cs typeface="DejaVu Sans"/>
              </a:defRPr>
            </a:pPr>
            <a:r>
              <a:rPr sz="2175" b="1">
                <a:solidFill>
                  <a:srgbClr val="4F46E5"/>
                </a:solidFill>
                <a:latin typeface="DejaVu Sans"/>
                <a:ea typeface="DejaVu Sans"/>
                <a:cs typeface="DejaVu Sans"/>
              </a:rPr>
              <a:t>Filters and overview</a:t>
            </a:r>
          </a:p>
        </p:txBody>
      </p:sp>
      <p:sp>
        <p:nvSpPr>
          <p:cNvPr id="7" name="text">
            <a:extLst xmlns:a="http://schemas.openxmlformats.org/drawingml/2006/main">
              <a:ext uri="{FF2B5EF4-FFF2-40B4-BE49-F238E27FC236}">
                <a16:creationId xmlns:a16="http://schemas.microsoft.com/office/drawing/2014/main" id="{AC5C4EDD-E07F-4753-AAC8-4AF5944F91E1}"/>
              </a:ext>
            </a:extLst>
          </p:cNvPr>
          <p:cNvSpPr>
            <a:spLocks xmlns:a="http://schemas.openxmlformats.org/drawingml/2006/main" noGrp="1"/>
          </p:cNvSpPr>
          <p:nvPr/>
        </p:nvSpPr>
        <p:spPr>
          <a:xfrm xmlns:a="http://schemas.openxmlformats.org/drawingml/2006/main">
            <a:off x="11430000" y="2619375"/>
            <a:ext cx="3238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240"/>
                </a:solidFill>
                <a:latin typeface="DejaVu Sans"/>
                <a:ea typeface="DejaVu Sans"/>
                <a:cs typeface="DejaVu Sans"/>
              </a:defRPr>
            </a:defPPr>
          </a:lstStyle>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Choose stocks, dates and raw or adjusted prices.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Reset the filters in one click.</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Rebased prices start at 100.</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TVS gained 86.91%, the highest in this period.</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Adjusted data has 114 crossover events.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The summary includes the latest crossing and final MA regime.</a:t>
            </a:r>
          </a:p>
        </p:txBody>
      </p:sp>
    </p:spTree>
    <p:extLst>
      <p:ext uri="{BB962C8B-B14F-4D97-AF65-F5344CB8AC3E}">
        <p14:creationId xmlns:p14="http://schemas.microsoft.com/office/powerpoint/2010/main" val="256491186"/>
      </p:ext>
    </p:extLst>
  </p:cSld>
</p:sld>
</file>

<file path=ppt/slides/slide5.xml><?xml version="1.0" encoding="utf-8"?>
<p:sld xmlns:p="http://schemas.openxmlformats.org/presentationml/2006/main">
  <p:cSld>
    <p:bg>
      <p:bgPr>
        <a:solidFill xmlns:a="http://schemas.openxmlformats.org/drawingml/2006/main">
          <a:srgbClr val="F5F7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EE677B2-B6A8-47E3-954A-E65BA2A318E2}"/>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240"/>
                </a:solidFill>
                <a:latin typeface="DejaVu Sans"/>
                <a:ea typeface="DejaVu Sans"/>
                <a:cs typeface="DejaVu Sans"/>
              </a:defRPr>
            </a:defPPr>
          </a:lstStyle>
          <a:p xmlns:a="http://schemas.openxmlformats.org/drawingml/2006/main">
            <a:pPr algn="l">
              <a:defRPr sz="3450" b="1">
                <a:solidFill>
                  <a:srgbClr val="142240"/>
                </a:solidFill>
                <a:latin typeface="DejaVu Sans"/>
                <a:ea typeface="DejaVu Sans"/>
                <a:cs typeface="DejaVu Sans"/>
              </a:defRPr>
            </a:pPr>
            <a:r>
              <a:rPr sz="3450" b="1">
                <a:solidFill>
                  <a:srgbClr val="142240"/>
                </a:solidFill>
                <a:latin typeface="DejaVu Sans"/>
                <a:ea typeface="DejaVu Sans"/>
                <a:cs typeface="DejaVu Sans"/>
              </a:rPr>
              <a:t>How I explored each stock</a:t>
            </a:r>
          </a:p>
        </p:txBody>
      </p:sp>
      <p:sp>
        <p:nvSpPr>
          <p:cNvPr id="2" name="text">
            <a:extLst xmlns:a="http://schemas.openxmlformats.org/drawingml/2006/main">
              <a:ext uri="{FF2B5EF4-FFF2-40B4-BE49-F238E27FC236}">
                <a16:creationId xmlns:a16="http://schemas.microsoft.com/office/drawing/2014/main" id="{4981034C-71F2-4207-B44F-FA616B840BE9}"/>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The explorer brings the price, moving averages, crossover markers and reported trading volume into one view.</a:t>
            </a:r>
          </a:p>
        </p:txBody>
      </p:sp>
      <p:sp>
        <p:nvSpPr>
          <p:cNvPr id="3" name="text">
            <a:extLst xmlns:a="http://schemas.openxmlformats.org/drawingml/2006/main">
              <a:ext uri="{FF2B5EF4-FFF2-40B4-BE49-F238E27FC236}">
                <a16:creationId xmlns:a16="http://schemas.microsoft.com/office/drawing/2014/main" id="{98007D50-6474-4418-A97B-56374B6F388B}"/>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D"/>
                </a:solidFill>
                <a:latin typeface="DejaVu Sans"/>
                <a:ea typeface="DejaVu Sans"/>
                <a:cs typeface="DejaVu Sans"/>
              </a:defRPr>
            </a:defPPr>
          </a:lstStyle>
          <a:p xmlns:a="http://schemas.openxmlformats.org/drawingml/2006/main">
            <a:pPr algn="l">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0FD86D88-B52F-4DB1-991F-F1859E3D0318}"/>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8D"/>
                </a:solidFill>
                <a:latin typeface="DejaVu Sans"/>
                <a:ea typeface="DejaVu Sans"/>
                <a:cs typeface="DejaVu Sans"/>
              </a:defRPr>
            </a:defPPr>
          </a:lstStyle>
          <a:p xmlns:a="http://schemas.openxmlformats.org/drawingml/2006/main">
            <a:pPr algn="r">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05 / 12</a:t>
            </a:r>
          </a:p>
        </p:txBody>
      </p:sp>
      <p:pic>
        <p:nvPicPr>
          <p:cNvPr id="5" name="">
            <a:extLst xmlns:a="http://schemas.openxmlformats.org/drawingml/2006/main">
              <a:ext uri="{FF2B5EF4-FFF2-40B4-BE49-F238E27FC236}">
                <a16:creationId xmlns:a16="http://schemas.microsoft.com/office/drawing/2014/main" id="{547A20DE-E57A-4D29-8942-B38BA60CF2E1}"/>
              </a:ext>
            </a:extLst>
          </p:cNvPr>
          <p:cNvPicPr>
            <a:picLocks xmlns:a="http://schemas.openxmlformats.org/drawingml/2006/main" noChangeAspect="1"/>
          </p:cNvPicPr>
          <p:nvPr/>
        </p:nvPicPr>
        <p:blipFill>
          <a:blip xmlns:r="http://schemas.openxmlformats.org/officeDocument/2006/relationships" xmlns:a="http://schemas.openxmlformats.org/drawingml/2006/main" r:embed="Rc7461d339cc143f7"/>
          <a:srcRect xmlns:a="http://schemas.openxmlformats.org/drawingml/2006/main" l="0" t="0" r="0" b="0"/>
          <a:stretch xmlns:a="http://schemas.openxmlformats.org/drawingml/2006/main"/>
        </p:blipFill>
        <p:spPr>
          <a:xfrm xmlns:a="http://schemas.openxmlformats.org/drawingml/2006/main">
            <a:off x="571500" y="1738563"/>
            <a:ext cx="10382250" cy="583832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166F354-CE17-4142-BB54-61E5818862D0}"/>
              </a:ext>
            </a:extLst>
          </p:cNvPr>
          <p:cNvPicPr>
            <a:picLocks xmlns:a="http://schemas.openxmlformats.org/drawingml/2006/main" noChangeAspect="1"/>
          </p:cNvPicPr>
          <p:nvPr/>
        </p:nvPicPr>
        <p:blipFill>
          <a:blip xmlns:r="http://schemas.openxmlformats.org/officeDocument/2006/relationships" xmlns:a="http://schemas.openxmlformats.org/drawingml/2006/main" r:embed="Rbc5145da4217472a"/>
          <a:srcRect xmlns:a="http://schemas.openxmlformats.org/drawingml/2006/main" l="0" t="0" r="0" b="0"/>
          <a:stretch xmlns:a="http://schemas.openxmlformats.org/drawingml/2006/main"/>
        </p:blipFill>
        <p:spPr>
          <a:xfrm xmlns:a="http://schemas.openxmlformats.org/drawingml/2006/main">
            <a:off x="11746230" y="1743075"/>
            <a:ext cx="2606040" cy="180975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87D7FB3A-9E31-4A40-A618-D928701323CD}"/>
              </a:ext>
            </a:extLst>
          </p:cNvPr>
          <p:cNvSpPr>
            <a:spLocks xmlns:a="http://schemas.openxmlformats.org/drawingml/2006/main" noGrp="1"/>
          </p:cNvSpPr>
          <p:nvPr/>
        </p:nvSpPr>
        <p:spPr>
          <a:xfrm xmlns:a="http://schemas.openxmlformats.org/drawingml/2006/main">
            <a:off x="11430000" y="38100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F46E5"/>
                </a:solidFill>
                <a:latin typeface="DejaVu Sans"/>
                <a:ea typeface="DejaVu Sans"/>
                <a:cs typeface="DejaVu Sans"/>
              </a:defRPr>
            </a:defPPr>
          </a:lstStyle>
          <a:p xmlns:a="http://schemas.openxmlformats.org/drawingml/2006/main">
            <a:pPr algn="l">
              <a:defRPr sz="2175" b="1">
                <a:solidFill>
                  <a:srgbClr val="4F46E5"/>
                </a:solidFill>
                <a:latin typeface="DejaVu Sans"/>
                <a:ea typeface="DejaVu Sans"/>
                <a:cs typeface="DejaVu Sans"/>
              </a:defRPr>
            </a:pPr>
            <a:r>
              <a:rPr sz="2175" b="1">
                <a:solidFill>
                  <a:srgbClr val="4F46E5"/>
                </a:solidFill>
                <a:latin typeface="DejaVu Sans"/>
                <a:ea typeface="DejaVu Sans"/>
                <a:cs typeface="DejaVu Sans"/>
              </a:rPr>
              <a:t>My analysis rules</a:t>
            </a:r>
          </a:p>
        </p:txBody>
      </p:sp>
      <p:sp>
        <p:nvSpPr>
          <p:cNvPr id="8" name="text">
            <a:extLst xmlns:a="http://schemas.openxmlformats.org/drawingml/2006/main">
              <a:ext uri="{FF2B5EF4-FFF2-40B4-BE49-F238E27FC236}">
                <a16:creationId xmlns:a16="http://schemas.microsoft.com/office/drawing/2014/main" id="{D216FA5C-15D2-4F8E-B9CB-9E359FF59081}"/>
              </a:ext>
            </a:extLst>
          </p:cNvPr>
          <p:cNvSpPr>
            <a:spLocks xmlns:a="http://schemas.openxmlformats.org/drawingml/2006/main" noGrp="1"/>
          </p:cNvSpPr>
          <p:nvPr/>
        </p:nvSpPr>
        <p:spPr>
          <a:xfrm xmlns:a="http://schemas.openxmlformats.org/drawingml/2006/main">
            <a:off x="11430000" y="4286250"/>
            <a:ext cx="3238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240"/>
                </a:solidFill>
                <a:latin typeface="DejaVu Sans"/>
                <a:ea typeface="DejaVu Sans"/>
                <a:cs typeface="DejaVu Sans"/>
              </a:defRPr>
            </a:defPPr>
          </a:lstStyle>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MA20: today plus 19 earlier trading rows.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MA50: today plus 49 earlier trading rows.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The first 19/49 averages stay NULL.</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Line/candlestick switch and MA toggle.</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Daily moves, drawdown and CSV export.</a:t>
            </a:r>
          </a:p>
        </p:txBody>
      </p:sp>
      <p:sp>
        <p:nvSpPr>
          <p:cNvPr id="9" name="text">
            <a:extLst xmlns:a="http://schemas.openxmlformats.org/drawingml/2006/main">
              <a:ext uri="{FF2B5EF4-FFF2-40B4-BE49-F238E27FC236}">
                <a16:creationId xmlns:a16="http://schemas.microsoft.com/office/drawing/2014/main" id="{B0C32746-232B-4A6E-92DF-F74D0D176588}"/>
              </a:ext>
            </a:extLst>
          </p:cNvPr>
          <p:cNvSpPr>
            <a:spLocks xmlns:a="http://schemas.openxmlformats.org/drawingml/2006/main" noGrp="1"/>
          </p:cNvSpPr>
          <p:nvPr/>
        </p:nvSpPr>
        <p:spPr>
          <a:xfrm xmlns:a="http://schemas.openxmlformats.org/drawingml/2006/main">
            <a:off x="571500" y="77343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18D"/>
                </a:solidFill>
                <a:latin typeface="DejaVu Sans"/>
                <a:ea typeface="DejaVu Sans"/>
                <a:cs typeface="DejaVu Sans"/>
              </a:defRPr>
            </a:defPPr>
          </a:lstStyle>
          <a:p xmlns:a="http://schemas.openxmlformats.org/drawingml/2006/main">
            <a:pPr algn="l">
              <a:defRPr sz="1500" b="0">
                <a:solidFill>
                  <a:srgbClr val="60718D"/>
                </a:solidFill>
                <a:latin typeface="DejaVu Sans"/>
                <a:ea typeface="DejaVu Sans"/>
                <a:cs typeface="DejaVu Sans"/>
              </a:defRPr>
            </a:pPr>
            <a:r>
              <a:rPr sz="1500" b="0">
                <a:solidFill>
                  <a:srgbClr val="60718D"/>
                </a:solidFill>
                <a:latin typeface="DejaVu Sans"/>
                <a:ea typeface="DejaVu Sans"/>
                <a:cs typeface="DejaVu Sans"/>
              </a:rPr>
              <a:t>Bajaj checks: first MA20 = INR 2,415.53 on 29 Jan 2015. First MA50 = INR 2,283.80 on 13 Mar 2015.</a:t>
            </a:r>
          </a:p>
        </p:txBody>
      </p:sp>
    </p:spTree>
    <p:extLst>
      <p:ext uri="{BB962C8B-B14F-4D97-AF65-F5344CB8AC3E}">
        <p14:creationId xmlns:p14="http://schemas.microsoft.com/office/powerpoint/2010/main" val="2008119215"/>
      </p:ext>
    </p:extLst>
  </p:cSld>
</p:sld>
</file>

<file path=ppt/slides/slide6.xml><?xml version="1.0" encoding="utf-8"?>
<p:sld xmlns:p="http://schemas.openxmlformats.org/presentationml/2006/main">
  <p:cSld>
    <p:bg>
      <p:bgPr>
        <a:solidFill xmlns:a="http://schemas.openxmlformats.org/drawingml/2006/main">
          <a:srgbClr val="F5F7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9DD834E-6FA8-4BFD-ADF8-AF8EB051CE0C}"/>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240"/>
                </a:solidFill>
                <a:latin typeface="DejaVu Sans"/>
                <a:ea typeface="DejaVu Sans"/>
                <a:cs typeface="DejaVu Sans"/>
              </a:defRPr>
            </a:defPPr>
          </a:lstStyle>
          <a:p xmlns:a="http://schemas.openxmlformats.org/drawingml/2006/main">
            <a:pPr algn="l">
              <a:defRPr sz="3450" b="1">
                <a:solidFill>
                  <a:srgbClr val="142240"/>
                </a:solidFill>
                <a:latin typeface="DejaVu Sans"/>
                <a:ea typeface="DejaVu Sans"/>
                <a:cs typeface="DejaVu Sans"/>
              </a:defRPr>
            </a:pPr>
            <a:r>
              <a:rPr sz="3450" b="1">
                <a:solidFill>
                  <a:srgbClr val="142240"/>
                </a:solidFill>
                <a:latin typeface="DejaVu Sans"/>
                <a:ea typeface="DejaVu Sans"/>
                <a:cs typeface="DejaVu Sans"/>
              </a:rPr>
              <a:t>What Buy, Sell and Hold mean</a:t>
            </a:r>
          </a:p>
        </p:txBody>
      </p:sp>
      <p:sp>
        <p:nvSpPr>
          <p:cNvPr id="2" name="text">
            <a:extLst xmlns:a="http://schemas.openxmlformats.org/drawingml/2006/main">
              <a:ext uri="{FF2B5EF4-FFF2-40B4-BE49-F238E27FC236}">
                <a16:creationId xmlns:a16="http://schemas.microsoft.com/office/drawing/2014/main" id="{C9C1B331-067D-4892-8E07-6BF20EB7B76A}"/>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I compare today’s 20/50-day relationship with yesterday’s relationship to identify a crossing.</a:t>
            </a:r>
          </a:p>
        </p:txBody>
      </p:sp>
      <p:sp>
        <p:nvSpPr>
          <p:cNvPr id="3" name="text">
            <a:extLst xmlns:a="http://schemas.openxmlformats.org/drawingml/2006/main">
              <a:ext uri="{FF2B5EF4-FFF2-40B4-BE49-F238E27FC236}">
                <a16:creationId xmlns:a16="http://schemas.microsoft.com/office/drawing/2014/main" id="{5A260A58-B216-4DD6-8ACF-CBEA91A51A13}"/>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D"/>
                </a:solidFill>
                <a:latin typeface="DejaVu Sans"/>
                <a:ea typeface="DejaVu Sans"/>
                <a:cs typeface="DejaVu Sans"/>
              </a:defRPr>
            </a:defPPr>
          </a:lstStyle>
          <a:p xmlns:a="http://schemas.openxmlformats.org/drawingml/2006/main">
            <a:pPr algn="l">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5A6A0184-9052-442B-A484-943B694EE1F6}"/>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8D"/>
                </a:solidFill>
                <a:latin typeface="DejaVu Sans"/>
                <a:ea typeface="DejaVu Sans"/>
                <a:cs typeface="DejaVu Sans"/>
              </a:defRPr>
            </a:defPPr>
          </a:lstStyle>
          <a:p xmlns:a="http://schemas.openxmlformats.org/drawingml/2006/main">
            <a:pPr algn="r">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06 / 12</a:t>
            </a:r>
          </a:p>
        </p:txBody>
      </p:sp>
      <p:pic>
        <p:nvPicPr>
          <p:cNvPr id="5" name="">
            <a:extLst xmlns:a="http://schemas.openxmlformats.org/drawingml/2006/main">
              <a:ext uri="{FF2B5EF4-FFF2-40B4-BE49-F238E27FC236}">
                <a16:creationId xmlns:a16="http://schemas.microsoft.com/office/drawing/2014/main" id="{3412272A-E942-4168-92A8-C11CBBB46DB1}"/>
              </a:ext>
            </a:extLst>
          </p:cNvPr>
          <p:cNvPicPr>
            <a:picLocks xmlns:a="http://schemas.openxmlformats.org/drawingml/2006/main" noChangeAspect="1"/>
          </p:cNvPicPr>
          <p:nvPr/>
        </p:nvPicPr>
        <p:blipFill>
          <a:blip xmlns:r="http://schemas.openxmlformats.org/officeDocument/2006/relationships" xmlns:a="http://schemas.openxmlformats.org/drawingml/2006/main" r:embed="Re045d322af7a4723"/>
          <a:srcRect xmlns:a="http://schemas.openxmlformats.org/drawingml/2006/main" l="0" t="0" r="0" b="0"/>
          <a:stretch xmlns:a="http://schemas.openxmlformats.org/drawingml/2006/main"/>
        </p:blipFill>
        <p:spPr>
          <a:xfrm xmlns:a="http://schemas.openxmlformats.org/drawingml/2006/main">
            <a:off x="571500" y="1738563"/>
            <a:ext cx="10382250" cy="583832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A2CB112-F38F-4B33-85F9-414B942AF2A4}"/>
              </a:ext>
            </a:extLst>
          </p:cNvPr>
          <p:cNvPicPr>
            <a:picLocks xmlns:a="http://schemas.openxmlformats.org/drawingml/2006/main" noChangeAspect="1"/>
          </p:cNvPicPr>
          <p:nvPr/>
        </p:nvPicPr>
        <p:blipFill>
          <a:blip xmlns:r="http://schemas.openxmlformats.org/officeDocument/2006/relationships" xmlns:a="http://schemas.openxmlformats.org/drawingml/2006/main" r:embed="R8b95c08eccac4994"/>
          <a:srcRect xmlns:a="http://schemas.openxmlformats.org/drawingml/2006/main" l="0" t="0" r="0" b="0"/>
          <a:stretch xmlns:a="http://schemas.openxmlformats.org/drawingml/2006/main"/>
        </p:blipFill>
        <p:spPr>
          <a:xfrm xmlns:a="http://schemas.openxmlformats.org/drawingml/2006/main">
            <a:off x="11746230" y="1743075"/>
            <a:ext cx="2606040" cy="180975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41001665-F297-463C-9A4F-2591551C023D}"/>
              </a:ext>
            </a:extLst>
          </p:cNvPr>
          <p:cNvSpPr>
            <a:spLocks xmlns:a="http://schemas.openxmlformats.org/drawingml/2006/main" noGrp="1"/>
          </p:cNvSpPr>
          <p:nvPr/>
        </p:nvSpPr>
        <p:spPr>
          <a:xfrm xmlns:a="http://schemas.openxmlformats.org/drawingml/2006/main">
            <a:off x="11430000" y="38100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F46E5"/>
                </a:solidFill>
                <a:latin typeface="DejaVu Sans"/>
                <a:ea typeface="DejaVu Sans"/>
                <a:cs typeface="DejaVu Sans"/>
              </a:defRPr>
            </a:defPPr>
          </a:lstStyle>
          <a:p xmlns:a="http://schemas.openxmlformats.org/drawingml/2006/main">
            <a:pPr algn="l">
              <a:defRPr sz="2175" b="1">
                <a:solidFill>
                  <a:srgbClr val="4F46E5"/>
                </a:solidFill>
                <a:latin typeface="DejaVu Sans"/>
                <a:ea typeface="DejaVu Sans"/>
                <a:cs typeface="DejaVu Sans"/>
              </a:defRPr>
            </a:pPr>
            <a:r>
              <a:rPr sz="2175" b="1">
                <a:solidFill>
                  <a:srgbClr val="4F46E5"/>
                </a:solidFill>
                <a:latin typeface="DejaVu Sans"/>
                <a:ea typeface="DejaVu Sans"/>
                <a:cs typeface="DejaVu Sans"/>
              </a:rPr>
              <a:t>The crossover rule</a:t>
            </a:r>
          </a:p>
        </p:txBody>
      </p:sp>
      <p:sp>
        <p:nvSpPr>
          <p:cNvPr id="8" name="text">
            <a:extLst xmlns:a="http://schemas.openxmlformats.org/drawingml/2006/main">
              <a:ext uri="{FF2B5EF4-FFF2-40B4-BE49-F238E27FC236}">
                <a16:creationId xmlns:a16="http://schemas.microsoft.com/office/drawing/2014/main" id="{A90C24FF-4518-45A5-8A85-C1AC982DC300}"/>
              </a:ext>
            </a:extLst>
          </p:cNvPr>
          <p:cNvSpPr>
            <a:spLocks xmlns:a="http://schemas.openxmlformats.org/drawingml/2006/main" noGrp="1"/>
          </p:cNvSpPr>
          <p:nvPr/>
        </p:nvSpPr>
        <p:spPr>
          <a:xfrm xmlns:a="http://schemas.openxmlformats.org/drawingml/2006/main">
            <a:off x="11430000" y="4286250"/>
            <a:ext cx="3238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240"/>
                </a:solidFill>
                <a:latin typeface="DejaVu Sans"/>
                <a:ea typeface="DejaVu Sans"/>
                <a:cs typeface="DejaVu Sans"/>
              </a:defRPr>
            </a:defPPr>
          </a:lstStyle>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Buy: MA20 crosses above MA50.</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Sell: MA20 crosses below MA50.</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Hold: no new crossing.</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Raw Bajaj: 12 Buy, 11 Sell.</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Filter events; export CSV.</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Quick reversal: opposite event within 30 days.</a:t>
            </a:r>
          </a:p>
        </p:txBody>
      </p:sp>
      <p:sp>
        <p:nvSpPr>
          <p:cNvPr id="9" name="text">
            <a:extLst xmlns:a="http://schemas.openxmlformats.org/drawingml/2006/main">
              <a:ext uri="{FF2B5EF4-FFF2-40B4-BE49-F238E27FC236}">
                <a16:creationId xmlns:a16="http://schemas.microsoft.com/office/drawing/2014/main" id="{D79F7A1E-DE5F-4B73-A53F-D04989255D18}"/>
              </a:ext>
            </a:extLst>
          </p:cNvPr>
          <p:cNvSpPr>
            <a:spLocks xmlns:a="http://schemas.openxmlformats.org/drawingml/2006/main" noGrp="1"/>
          </p:cNvSpPr>
          <p:nvPr/>
        </p:nvSpPr>
        <p:spPr>
          <a:xfrm xmlns:a="http://schemas.openxmlformats.org/drawingml/2006/main">
            <a:off x="571500" y="77343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18D"/>
                </a:solidFill>
                <a:latin typeface="DejaVu Sans"/>
                <a:ea typeface="DejaVu Sans"/>
                <a:cs typeface="DejaVu Sans"/>
              </a:defRPr>
            </a:defPPr>
          </a:lstStyle>
          <a:p xmlns:a="http://schemas.openxmlformats.org/drawingml/2006/main">
            <a:pPr algn="l">
              <a:defRPr sz="1500" b="0">
                <a:solidFill>
                  <a:srgbClr val="60718D"/>
                </a:solidFill>
                <a:latin typeface="DejaVu Sans"/>
                <a:ea typeface="DejaVu Sans"/>
                <a:cs typeface="DejaVu Sans"/>
              </a:defRPr>
            </a:pPr>
            <a:r>
              <a:rPr sz="1500" b="0">
                <a:solidFill>
                  <a:srgbClr val="60718D"/>
                </a:solidFill>
                <a:latin typeface="DejaVu Sans"/>
                <a:ea typeface="DejaVu Sans"/>
                <a:cs typeface="DejaVu Sans"/>
              </a:rPr>
              <a:t>A Hold label describes a daily event. The latest crossover and final MA regime describe different parts of the history.</a:t>
            </a:r>
          </a:p>
        </p:txBody>
      </p:sp>
    </p:spTree>
    <p:extLst>
      <p:ext uri="{BB962C8B-B14F-4D97-AF65-F5344CB8AC3E}">
        <p14:creationId xmlns:p14="http://schemas.microsoft.com/office/powerpoint/2010/main" val="1126701687"/>
      </p:ext>
    </p:extLst>
  </p:cSld>
</p:sld>
</file>

<file path=ppt/slides/slide7.xml><?xml version="1.0" encoding="utf-8"?>
<p:sld xmlns:p="http://schemas.openxmlformats.org/presentationml/2006/main">
  <p:cSld>
    <p:bg>
      <p:bgPr>
        <a:solidFill xmlns:a="http://schemas.openxmlformats.org/drawingml/2006/main">
          <a:srgbClr val="F5F7FC"/>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BC98183-84A8-4052-B90E-80C4CF74CD6B}"/>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240"/>
                </a:solidFill>
                <a:latin typeface="DejaVu Sans"/>
                <a:ea typeface="DejaVu Sans"/>
                <a:cs typeface="DejaVu Sans"/>
              </a:defRPr>
            </a:defPPr>
          </a:lstStyle>
          <a:p xmlns:a="http://schemas.openxmlformats.org/drawingml/2006/main">
            <a:pPr algn="l">
              <a:defRPr sz="3450" b="1">
                <a:solidFill>
                  <a:srgbClr val="142240"/>
                </a:solidFill>
                <a:latin typeface="DejaVu Sans"/>
                <a:ea typeface="DejaVu Sans"/>
                <a:cs typeface="DejaVu Sans"/>
              </a:defRPr>
            </a:pPr>
            <a:r>
              <a:rPr sz="3450" b="1">
                <a:solidFill>
                  <a:srgbClr val="142240"/>
                </a:solidFill>
                <a:latin typeface="DejaVu Sans"/>
                <a:ea typeface="DejaVu Sans"/>
                <a:cs typeface="DejaVu Sans"/>
              </a:rPr>
              <a:t>Date lookup and a trading-cost scenario</a:t>
            </a:r>
          </a:p>
        </p:txBody>
      </p:sp>
      <p:sp>
        <p:nvSpPr>
          <p:cNvPr id="2" name="text">
            <a:extLst xmlns:a="http://schemas.openxmlformats.org/drawingml/2006/main">
              <a:ext uri="{FF2B5EF4-FFF2-40B4-BE49-F238E27FC236}">
                <a16:creationId xmlns:a16="http://schemas.microsoft.com/office/drawing/2014/main" id="{4C76F867-4DF1-41A2-ADB9-40BF6F75BB97}"/>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I can inspect a single trading date and test how execution timing and assumed costs affect the result.</a:t>
            </a:r>
          </a:p>
        </p:txBody>
      </p:sp>
      <p:sp>
        <p:nvSpPr>
          <p:cNvPr id="3" name="text">
            <a:extLst xmlns:a="http://schemas.openxmlformats.org/drawingml/2006/main">
              <a:ext uri="{FF2B5EF4-FFF2-40B4-BE49-F238E27FC236}">
                <a16:creationId xmlns:a16="http://schemas.microsoft.com/office/drawing/2014/main" id="{845A1534-42CD-4B8F-BE71-7B3DDA5A76DC}"/>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D"/>
                </a:solidFill>
                <a:latin typeface="DejaVu Sans"/>
                <a:ea typeface="DejaVu Sans"/>
                <a:cs typeface="DejaVu Sans"/>
              </a:defRPr>
            </a:defPPr>
          </a:lstStyle>
          <a:p xmlns:a="http://schemas.openxmlformats.org/drawingml/2006/main">
            <a:pPr algn="l">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23BA4F9B-5C82-4DC9-A1F0-E367488B4D02}"/>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8D"/>
                </a:solidFill>
                <a:latin typeface="DejaVu Sans"/>
                <a:ea typeface="DejaVu Sans"/>
                <a:cs typeface="DejaVu Sans"/>
              </a:defRPr>
            </a:defPPr>
          </a:lstStyle>
          <a:p xmlns:a="http://schemas.openxmlformats.org/drawingml/2006/main">
            <a:pPr algn="r">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07 / 12</a:t>
            </a:r>
          </a:p>
        </p:txBody>
      </p:sp>
      <p:sp>
        <p:nvSpPr>
          <p:cNvPr id="5" name="text">
            <a:extLst xmlns:a="http://schemas.openxmlformats.org/drawingml/2006/main">
              <a:ext uri="{FF2B5EF4-FFF2-40B4-BE49-F238E27FC236}">
                <a16:creationId xmlns:a16="http://schemas.microsoft.com/office/drawing/2014/main" id="{5DA9D81A-1BA7-457D-B105-C912638F1922}"/>
              </a:ext>
            </a:extLst>
          </p:cNvPr>
          <p:cNvSpPr>
            <a:spLocks xmlns:a="http://schemas.openxmlformats.org/drawingml/2006/main" noGrp="1"/>
          </p:cNvSpPr>
          <p:nvPr/>
        </p:nvSpPr>
        <p:spPr>
          <a:xfrm xmlns:a="http://schemas.openxmlformats.org/drawingml/2006/main">
            <a:off x="571500" y="1762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F46E5"/>
                </a:solidFill>
                <a:latin typeface="DejaVu Sans"/>
                <a:ea typeface="DejaVu Sans"/>
                <a:cs typeface="DejaVu Sans"/>
              </a:defRPr>
            </a:defPPr>
          </a:lstStyle>
          <a:p xmlns:a="http://schemas.openxmlformats.org/drawingml/2006/main">
            <a:pPr algn="l">
              <a:defRPr sz="2175" b="1">
                <a:solidFill>
                  <a:srgbClr val="4F46E5"/>
                </a:solidFill>
                <a:latin typeface="DejaVu Sans"/>
                <a:ea typeface="DejaVu Sans"/>
                <a:cs typeface="DejaVu Sans"/>
              </a:defRPr>
            </a:pPr>
            <a:r>
              <a:rPr sz="2175" b="1">
                <a:solidFill>
                  <a:srgbClr val="4F46E5"/>
                </a:solidFill>
                <a:latin typeface="DejaVu Sans"/>
                <a:ea typeface="DejaVu Sans"/>
                <a:cs typeface="DejaVu Sans"/>
              </a:rPr>
              <a:t>Bajaj signal on a chosen date</a:t>
            </a:r>
          </a:p>
        </p:txBody>
      </p:sp>
      <p:sp>
        <p:nvSpPr>
          <p:cNvPr id="6" name="text">
            <a:extLst xmlns:a="http://schemas.openxmlformats.org/drawingml/2006/main">
              <a:ext uri="{FF2B5EF4-FFF2-40B4-BE49-F238E27FC236}">
                <a16:creationId xmlns:a16="http://schemas.microsoft.com/office/drawing/2014/main" id="{2FAB8897-8322-4A34-BCF3-75353F6CF699}"/>
              </a:ext>
            </a:extLst>
          </p:cNvPr>
          <p:cNvSpPr>
            <a:spLocks xmlns:a="http://schemas.openxmlformats.org/drawingml/2006/main" noGrp="1"/>
          </p:cNvSpPr>
          <p:nvPr/>
        </p:nvSpPr>
        <p:spPr>
          <a:xfrm xmlns:a="http://schemas.openxmlformats.org/drawingml/2006/main">
            <a:off x="8001000" y="1762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F46E5"/>
                </a:solidFill>
                <a:latin typeface="DejaVu Sans"/>
                <a:ea typeface="DejaVu Sans"/>
                <a:cs typeface="DejaVu Sans"/>
              </a:defRPr>
            </a:defPPr>
          </a:lstStyle>
          <a:p xmlns:a="http://schemas.openxmlformats.org/drawingml/2006/main">
            <a:pPr algn="l">
              <a:defRPr sz="2175" b="1">
                <a:solidFill>
                  <a:srgbClr val="4F46E5"/>
                </a:solidFill>
                <a:latin typeface="DejaVu Sans"/>
                <a:ea typeface="DejaVu Sans"/>
                <a:cs typeface="DejaVu Sans"/>
              </a:defRPr>
            </a:pPr>
            <a:r>
              <a:rPr sz="2175" b="1">
                <a:solidFill>
                  <a:srgbClr val="4F46E5"/>
                </a:solidFill>
                <a:latin typeface="DejaVu Sans"/>
                <a:ea typeface="DejaVu Sans"/>
                <a:cs typeface="DejaVu Sans"/>
              </a:rPr>
              <a:t>A separate educational scenario</a:t>
            </a:r>
          </a:p>
        </p:txBody>
      </p:sp>
      <p:pic>
        <p:nvPicPr>
          <p:cNvPr id="7" name="">
            <a:extLst xmlns:a="http://schemas.openxmlformats.org/drawingml/2006/main">
              <a:ext uri="{FF2B5EF4-FFF2-40B4-BE49-F238E27FC236}">
                <a16:creationId xmlns:a16="http://schemas.microsoft.com/office/drawing/2014/main" id="{8FE1E093-02F2-42C9-AFFA-2AB033598B85}"/>
              </a:ext>
            </a:extLst>
          </p:cNvPr>
          <p:cNvPicPr>
            <a:picLocks xmlns:a="http://schemas.openxmlformats.org/drawingml/2006/main" noChangeAspect="1"/>
          </p:cNvPicPr>
          <p:nvPr/>
        </p:nvPicPr>
        <p:blipFill>
          <a:blip xmlns:r="http://schemas.openxmlformats.org/officeDocument/2006/relationships" xmlns:a="http://schemas.openxmlformats.org/drawingml/2006/main" r:embed="R3fc4adb89bf44dac"/>
          <a:srcRect xmlns:a="http://schemas.openxmlformats.org/drawingml/2006/main" l="0" t="0" r="0" b="0"/>
          <a:stretch xmlns:a="http://schemas.openxmlformats.org/drawingml/2006/main"/>
        </p:blipFill>
        <p:spPr>
          <a:xfrm xmlns:a="http://schemas.openxmlformats.org/drawingml/2006/main">
            <a:off x="572262" y="2257425"/>
            <a:ext cx="6665976" cy="46291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3998328-BAC2-46BE-AF63-2DDE5F65021A}"/>
              </a:ext>
            </a:extLst>
          </p:cNvPr>
          <p:cNvPicPr>
            <a:picLocks xmlns:a="http://schemas.openxmlformats.org/drawingml/2006/main" noChangeAspect="1"/>
          </p:cNvPicPr>
          <p:nvPr/>
        </p:nvPicPr>
        <p:blipFill>
          <a:blip xmlns:r="http://schemas.openxmlformats.org/officeDocument/2006/relationships" xmlns:a="http://schemas.openxmlformats.org/drawingml/2006/main" r:embed="R5944d67b497a44cb"/>
          <a:srcRect xmlns:a="http://schemas.openxmlformats.org/drawingml/2006/main" l="0" t="0" r="0" b="0"/>
          <a:stretch xmlns:a="http://schemas.openxmlformats.org/drawingml/2006/main"/>
        </p:blipFill>
        <p:spPr>
          <a:xfrm xmlns:a="http://schemas.openxmlformats.org/drawingml/2006/main">
            <a:off x="8001762" y="2257425"/>
            <a:ext cx="6665976" cy="46291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5BA7033-15E4-4A46-947B-B6C4ECC7005D}"/>
              </a:ext>
            </a:extLst>
          </p:cNvPr>
          <p:cNvSpPr>
            <a:spLocks xmlns:a="http://schemas.openxmlformats.org/drawingml/2006/main" noGrp="1"/>
          </p:cNvSpPr>
          <p:nvPr/>
        </p:nvSpPr>
        <p:spPr>
          <a:xfrm xmlns:a="http://schemas.openxmlformats.org/drawingml/2006/main">
            <a:off x="571500" y="71056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240"/>
                </a:solidFill>
                <a:latin typeface="DejaVu Sans"/>
                <a:ea typeface="DejaVu Sans"/>
                <a:cs typeface="DejaVu Sans"/>
              </a:defRPr>
            </a:defPPr>
          </a:lstStyle>
          <a:p xmlns:a="http://schemas.openxmlformats.org/drawingml/2006/main">
            <a:pPr algn="l">
              <a:defRPr sz="1875" b="0">
                <a:solidFill>
                  <a:srgbClr val="142240"/>
                </a:solidFill>
                <a:latin typeface="DejaVu Sans"/>
                <a:ea typeface="DejaVu Sans"/>
                <a:cs typeface="DejaVu Sans"/>
              </a:defRPr>
            </a:pPr>
            <a:r>
              <a:rPr sz="1875" b="0">
                <a:solidFill>
                  <a:srgbClr val="142240"/>
                </a:solidFill>
                <a:latin typeface="DejaVu Sans"/>
                <a:ea typeface="DejaVu Sans"/>
                <a:cs typeface="DejaVu Sans"/>
              </a:rPr>
              <a:t>bajaj_signal('2018-06-21') returns Buy. A missing trading date returns no record or NULL.</a:t>
            </a:r>
          </a:p>
        </p:txBody>
      </p:sp>
      <p:sp>
        <p:nvSpPr>
          <p:cNvPr id="10" name="text">
            <a:extLst xmlns:a="http://schemas.openxmlformats.org/drawingml/2006/main">
              <a:ext uri="{FF2B5EF4-FFF2-40B4-BE49-F238E27FC236}">
                <a16:creationId xmlns:a16="http://schemas.microsoft.com/office/drawing/2014/main" id="{20B7A817-A137-4D2D-ACD2-402259C0CC52}"/>
              </a:ext>
            </a:extLst>
          </p:cNvPr>
          <p:cNvSpPr>
            <a:spLocks xmlns:a="http://schemas.openxmlformats.org/drawingml/2006/main" noGrp="1"/>
          </p:cNvSpPr>
          <p:nvPr/>
        </p:nvSpPr>
        <p:spPr>
          <a:xfrm xmlns:a="http://schemas.openxmlformats.org/drawingml/2006/main">
            <a:off x="8001000" y="71056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240"/>
                </a:solidFill>
                <a:latin typeface="DejaVu Sans"/>
                <a:ea typeface="DejaVu Sans"/>
                <a:cs typeface="DejaVu Sans"/>
              </a:defRPr>
            </a:defPPr>
          </a:lstStyle>
          <a:p xmlns:a="http://schemas.openxmlformats.org/drawingml/2006/main">
            <a:pPr algn="l">
              <a:defRPr sz="1875" b="0">
                <a:solidFill>
                  <a:srgbClr val="142240"/>
                </a:solidFill>
                <a:latin typeface="DejaVu Sans"/>
                <a:ea typeface="DejaVu Sans"/>
                <a:cs typeface="DejaVu Sans"/>
              </a:defRPr>
            </a:pPr>
            <a:r>
              <a:rPr sz="1875" b="0">
                <a:solidFill>
                  <a:srgbClr val="142240"/>
                </a:solidFill>
                <a:latin typeface="DejaVu Sans"/>
                <a:ea typeface="DejaVu Sans"/>
                <a:cs typeface="DejaVu Sans"/>
              </a:rPr>
              <a:t>INR 100,000 starting cash. Next observed open. Fee: 0.10% per transaction. Bajaj net return: −1.09%.</a:t>
            </a:r>
          </a:p>
        </p:txBody>
      </p:sp>
    </p:spTree>
    <p:extLst>
      <p:ext uri="{BB962C8B-B14F-4D97-AF65-F5344CB8AC3E}">
        <p14:creationId xmlns:p14="http://schemas.microsoft.com/office/powerpoint/2010/main" val="919203844"/>
      </p:ext>
    </p:extLst>
  </p:cSld>
</p:sld>
</file>

<file path=ppt/slides/slide8.xml><?xml version="1.0" encoding="utf-8"?>
<p:sld xmlns:p="http://schemas.openxmlformats.org/presentationml/2006/main">
  <p:cSld>
    <p:bg>
      <p:bgPr>
        <a:solidFill xmlns:a="http://schemas.openxmlformats.org/drawingml/2006/main">
          <a:srgbClr val="F5F7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515657A-3C9A-40E1-91E8-502566FE0CF6}"/>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240"/>
                </a:solidFill>
                <a:latin typeface="DejaVu Sans"/>
                <a:ea typeface="DejaVu Sans"/>
                <a:cs typeface="DejaVu Sans"/>
              </a:defRPr>
            </a:defPPr>
          </a:lstStyle>
          <a:p xmlns:a="http://schemas.openxmlformats.org/drawingml/2006/main">
            <a:pPr algn="l">
              <a:defRPr sz="3450" b="1">
                <a:solidFill>
                  <a:srgbClr val="142240"/>
                </a:solidFill>
                <a:latin typeface="DejaVu Sans"/>
                <a:ea typeface="DejaVu Sans"/>
                <a:cs typeface="DejaVu Sans"/>
              </a:defRPr>
            </a:pPr>
            <a:r>
              <a:rPr sz="3450" b="1">
                <a:solidFill>
                  <a:srgbClr val="142240"/>
                </a:solidFill>
                <a:latin typeface="DejaVu Sans"/>
                <a:ea typeface="DejaVu Sans"/>
                <a:cs typeface="DejaVu Sans"/>
              </a:rPr>
              <a:t>Why I adjusted Infosys and TCS</a:t>
            </a:r>
          </a:p>
        </p:txBody>
      </p:sp>
      <p:sp>
        <p:nvSpPr>
          <p:cNvPr id="2" name="text">
            <a:extLst xmlns:a="http://schemas.openxmlformats.org/drawingml/2006/main">
              <a:ext uri="{FF2B5EF4-FFF2-40B4-BE49-F238E27FC236}">
                <a16:creationId xmlns:a16="http://schemas.microsoft.com/office/drawing/2014/main" id="{74257E55-EFE4-4D60-A7A8-B40FC9F93D60}"/>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The two 1:1 bonus issues create raw price falls near 50%, which change the return comparison and some signals.</a:t>
            </a:r>
          </a:p>
        </p:txBody>
      </p:sp>
      <p:sp>
        <p:nvSpPr>
          <p:cNvPr id="3" name="text">
            <a:extLst xmlns:a="http://schemas.openxmlformats.org/drawingml/2006/main">
              <a:ext uri="{FF2B5EF4-FFF2-40B4-BE49-F238E27FC236}">
                <a16:creationId xmlns:a16="http://schemas.microsoft.com/office/drawing/2014/main" id="{9FE9C0CD-BC7A-45D4-9800-41B3A1F63960}"/>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D"/>
                </a:solidFill>
                <a:latin typeface="DejaVu Sans"/>
                <a:ea typeface="DejaVu Sans"/>
                <a:cs typeface="DejaVu Sans"/>
              </a:defRPr>
            </a:defPPr>
          </a:lstStyle>
          <a:p xmlns:a="http://schemas.openxmlformats.org/drawingml/2006/main">
            <a:pPr algn="l">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5C9A57A8-CD6F-4D42-A77A-65EF8648F944}"/>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8D"/>
                </a:solidFill>
                <a:latin typeface="DejaVu Sans"/>
                <a:ea typeface="DejaVu Sans"/>
                <a:cs typeface="DejaVu Sans"/>
              </a:defRPr>
            </a:defPPr>
          </a:lstStyle>
          <a:p xmlns:a="http://schemas.openxmlformats.org/drawingml/2006/main">
            <a:pPr algn="r">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08 / 12</a:t>
            </a:r>
          </a:p>
        </p:txBody>
      </p:sp>
      <p:pic>
        <p:nvPicPr>
          <p:cNvPr id="5" name="">
            <a:extLst xmlns:a="http://schemas.openxmlformats.org/drawingml/2006/main">
              <a:ext uri="{FF2B5EF4-FFF2-40B4-BE49-F238E27FC236}">
                <a16:creationId xmlns:a16="http://schemas.microsoft.com/office/drawing/2014/main" id="{0CA1AADC-39A5-4F85-87A3-79E46B4AA271}"/>
              </a:ext>
            </a:extLst>
          </p:cNvPr>
          <p:cNvPicPr>
            <a:picLocks xmlns:a="http://schemas.openxmlformats.org/drawingml/2006/main" noChangeAspect="1"/>
          </p:cNvPicPr>
          <p:nvPr/>
        </p:nvPicPr>
        <p:blipFill>
          <a:blip xmlns:r="http://schemas.openxmlformats.org/officeDocument/2006/relationships" xmlns:a="http://schemas.openxmlformats.org/drawingml/2006/main" r:embed="Rf02303458cb04e26"/>
          <a:srcRect xmlns:a="http://schemas.openxmlformats.org/drawingml/2006/main" l="0" t="0" r="0" b="0"/>
          <a:stretch xmlns:a="http://schemas.openxmlformats.org/drawingml/2006/main"/>
        </p:blipFill>
        <p:spPr>
          <a:xfrm xmlns:a="http://schemas.openxmlformats.org/drawingml/2006/main">
            <a:off x="571500" y="1738563"/>
            <a:ext cx="10382250" cy="583832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4E8223A-9C01-4197-A149-4D7329B4629B}"/>
              </a:ext>
            </a:extLst>
          </p:cNvPr>
          <p:cNvPicPr>
            <a:picLocks xmlns:a="http://schemas.openxmlformats.org/drawingml/2006/main" noChangeAspect="1"/>
          </p:cNvPicPr>
          <p:nvPr/>
        </p:nvPicPr>
        <p:blipFill>
          <a:blip xmlns:r="http://schemas.openxmlformats.org/officeDocument/2006/relationships" xmlns:a="http://schemas.openxmlformats.org/drawingml/2006/main" r:embed="R25a640434e46454a"/>
          <a:srcRect xmlns:a="http://schemas.openxmlformats.org/drawingml/2006/main" l="0" t="0" r="0" b="0"/>
          <a:stretch xmlns:a="http://schemas.openxmlformats.org/drawingml/2006/main"/>
        </p:blipFill>
        <p:spPr>
          <a:xfrm xmlns:a="http://schemas.openxmlformats.org/drawingml/2006/main">
            <a:off x="11746230" y="1743075"/>
            <a:ext cx="2606040" cy="180975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E1DEE14A-0701-4D51-84A1-691DF4637ED9}"/>
              </a:ext>
            </a:extLst>
          </p:cNvPr>
          <p:cNvSpPr>
            <a:spLocks xmlns:a="http://schemas.openxmlformats.org/drawingml/2006/main" noGrp="1"/>
          </p:cNvSpPr>
          <p:nvPr/>
        </p:nvSpPr>
        <p:spPr>
          <a:xfrm xmlns:a="http://schemas.openxmlformats.org/drawingml/2006/main">
            <a:off x="11430000" y="38100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F46E5"/>
                </a:solidFill>
                <a:latin typeface="DejaVu Sans"/>
                <a:ea typeface="DejaVu Sans"/>
                <a:cs typeface="DejaVu Sans"/>
              </a:defRPr>
            </a:defPPr>
          </a:lstStyle>
          <a:p xmlns:a="http://schemas.openxmlformats.org/drawingml/2006/main">
            <a:pPr algn="l">
              <a:defRPr sz="2175" b="1">
                <a:solidFill>
                  <a:srgbClr val="4F46E5"/>
                </a:solidFill>
                <a:latin typeface="DejaVu Sans"/>
                <a:ea typeface="DejaVu Sans"/>
                <a:cs typeface="DejaVu Sans"/>
              </a:defRPr>
            </a:pPr>
            <a:r>
              <a:rPr sz="2175" b="1">
                <a:solidFill>
                  <a:srgbClr val="4F46E5"/>
                </a:solidFill>
                <a:latin typeface="DejaVu Sans"/>
                <a:ea typeface="DejaVu Sans"/>
                <a:cs typeface="DejaVu Sans"/>
              </a:rPr>
              <a:t>The corrected view</a:t>
            </a:r>
          </a:p>
        </p:txBody>
      </p:sp>
      <p:sp>
        <p:nvSpPr>
          <p:cNvPr id="8" name="text">
            <a:extLst xmlns:a="http://schemas.openxmlformats.org/drawingml/2006/main">
              <a:ext uri="{FF2B5EF4-FFF2-40B4-BE49-F238E27FC236}">
                <a16:creationId xmlns:a16="http://schemas.microsoft.com/office/drawing/2014/main" id="{CDFA129A-66A2-4CDD-B017-30C132D99AFA}"/>
              </a:ext>
            </a:extLst>
          </p:cNvPr>
          <p:cNvSpPr>
            <a:spLocks xmlns:a="http://schemas.openxmlformats.org/drawingml/2006/main" noGrp="1"/>
          </p:cNvSpPr>
          <p:nvPr/>
        </p:nvSpPr>
        <p:spPr>
          <a:xfrm xmlns:a="http://schemas.openxmlformats.org/drawingml/2006/main">
            <a:off x="11430000" y="4286250"/>
            <a:ext cx="3238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240"/>
                </a:solidFill>
                <a:latin typeface="DejaVu Sans"/>
                <a:ea typeface="DejaVu Sans"/>
                <a:cs typeface="DejaVu Sans"/>
              </a:defRPr>
            </a:defPPr>
          </a:lstStyle>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Infosys: 15 Jun 2015 ex-date.</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TCS: 31 May 2018 ex-date.</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Pre-event OHLC prices ÷ 2.</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Infosys: −30.91% to +38.17%.</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TCS: −23.82% to +52.36%.</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Five signal dates change.</a:t>
            </a:r>
          </a:p>
        </p:txBody>
      </p:sp>
      <p:sp>
        <p:nvSpPr>
          <p:cNvPr id="9" name="text">
            <a:extLst xmlns:a="http://schemas.openxmlformats.org/drawingml/2006/main">
              <a:ext uri="{FF2B5EF4-FFF2-40B4-BE49-F238E27FC236}">
                <a16:creationId xmlns:a16="http://schemas.microsoft.com/office/drawing/2014/main" id="{FAEB5603-E6C6-408A-83A5-F29C3E2BAA98}"/>
              </a:ext>
            </a:extLst>
          </p:cNvPr>
          <p:cNvSpPr>
            <a:spLocks xmlns:a="http://schemas.openxmlformats.org/drawingml/2006/main" noGrp="1"/>
          </p:cNvSpPr>
          <p:nvPr/>
        </p:nvSpPr>
        <p:spPr>
          <a:xfrm xmlns:a="http://schemas.openxmlformats.org/drawingml/2006/main">
            <a:off x="571500" y="77343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18D"/>
                </a:solidFill>
                <a:latin typeface="DejaVu Sans"/>
                <a:ea typeface="DejaVu Sans"/>
                <a:cs typeface="DejaVu Sans"/>
              </a:defRPr>
            </a:defPPr>
          </a:lstStyle>
          <a:p xmlns:a="http://schemas.openxmlformats.org/drawingml/2006/main">
            <a:pPr algn="l">
              <a:defRPr sz="1500" b="0">
                <a:solidFill>
                  <a:srgbClr val="60718D"/>
                </a:solidFill>
                <a:latin typeface="DejaVu Sans"/>
                <a:ea typeface="DejaVu Sans"/>
                <a:cs typeface="DejaVu Sans"/>
              </a:defRPr>
            </a:pPr>
            <a:r>
              <a:rPr sz="1500" b="0">
                <a:solidFill>
                  <a:srgbClr val="60718D"/>
                </a:solidFill>
                <a:latin typeface="DejaVu Sans"/>
                <a:ea typeface="DejaVu Sans"/>
                <a:cs typeface="DejaVu Sans"/>
              </a:rPr>
              <a:t>Issuer evidence: Infosys Q1 FY2016, page 5. TCS Annual Report 2018-19, printed page 89.</a:t>
            </a:r>
          </a:p>
        </p:txBody>
      </p:sp>
    </p:spTree>
    <p:extLst>
      <p:ext uri="{BB962C8B-B14F-4D97-AF65-F5344CB8AC3E}">
        <p14:creationId xmlns:p14="http://schemas.microsoft.com/office/powerpoint/2010/main" val="1011230098"/>
      </p:ext>
    </p:extLst>
  </p:cSld>
</p:sld>
</file>

<file path=ppt/slides/slide9.xml><?xml version="1.0" encoding="utf-8"?>
<p:sld xmlns:p="http://schemas.openxmlformats.org/presentationml/2006/main">
  <p:cSld>
    <p:bg>
      <p:bgPr>
        <a:solidFill xmlns:a="http://schemas.openxmlformats.org/drawingml/2006/main">
          <a:srgbClr val="F5F7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D1F9A65-3E48-43AE-A039-8849FDBC6A26}"/>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240"/>
                </a:solidFill>
                <a:latin typeface="DejaVu Sans"/>
                <a:ea typeface="DejaVu Sans"/>
                <a:cs typeface="DejaVu Sans"/>
              </a:defRPr>
            </a:defPPr>
          </a:lstStyle>
          <a:p xmlns:a="http://schemas.openxmlformats.org/drawingml/2006/main">
            <a:pPr algn="l">
              <a:defRPr sz="3450" b="1">
                <a:solidFill>
                  <a:srgbClr val="142240"/>
                </a:solidFill>
                <a:latin typeface="DejaVu Sans"/>
                <a:ea typeface="DejaVu Sans"/>
                <a:cs typeface="DejaVu Sans"/>
              </a:defRPr>
            </a:pPr>
            <a:r>
              <a:rPr sz="3450" b="1">
                <a:solidFill>
                  <a:srgbClr val="142240"/>
                </a:solidFill>
                <a:latin typeface="DejaVu Sans"/>
                <a:ea typeface="DejaVu Sans"/>
                <a:cs typeface="DejaVu Sans"/>
              </a:rPr>
              <a:t>The SQL work behind the dashboard</a:t>
            </a:r>
          </a:p>
        </p:txBody>
      </p:sp>
      <p:sp>
        <p:nvSpPr>
          <p:cNvPr id="2" name="text">
            <a:extLst xmlns:a="http://schemas.openxmlformats.org/drawingml/2006/main">
              <a:ext uri="{FF2B5EF4-FFF2-40B4-BE49-F238E27FC236}">
                <a16:creationId xmlns:a16="http://schemas.microsoft.com/office/drawing/2014/main" id="{8F58A374-F919-4588-8449-F737A4D2132D}"/>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I can edit a task query, inspect the schema and run it against the actual supplied data.</a:t>
            </a:r>
          </a:p>
        </p:txBody>
      </p:sp>
      <p:sp>
        <p:nvSpPr>
          <p:cNvPr id="3" name="text">
            <a:extLst xmlns:a="http://schemas.openxmlformats.org/drawingml/2006/main">
              <a:ext uri="{FF2B5EF4-FFF2-40B4-BE49-F238E27FC236}">
                <a16:creationId xmlns:a16="http://schemas.microsoft.com/office/drawing/2014/main" id="{4C18F784-A483-4603-BA89-ED2A9918535F}"/>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D"/>
                </a:solidFill>
                <a:latin typeface="DejaVu Sans"/>
                <a:ea typeface="DejaVu Sans"/>
                <a:cs typeface="DejaVu Sans"/>
              </a:defRPr>
            </a:defPPr>
          </a:lstStyle>
          <a:p xmlns:a="http://schemas.openxmlformats.org/drawingml/2006/main">
            <a:pPr algn="l">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AE4CE5D9-EB76-4F70-A200-773088968059}"/>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8D"/>
                </a:solidFill>
                <a:latin typeface="DejaVu Sans"/>
                <a:ea typeface="DejaVu Sans"/>
                <a:cs typeface="DejaVu Sans"/>
              </a:defRPr>
            </a:defPPr>
          </a:lstStyle>
          <a:p xmlns:a="http://schemas.openxmlformats.org/drawingml/2006/main">
            <a:pPr algn="r">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09 / 12</a:t>
            </a:r>
          </a:p>
        </p:txBody>
      </p:sp>
      <p:pic>
        <p:nvPicPr>
          <p:cNvPr id="5" name="">
            <a:extLst xmlns:a="http://schemas.openxmlformats.org/drawingml/2006/main">
              <a:ext uri="{FF2B5EF4-FFF2-40B4-BE49-F238E27FC236}">
                <a16:creationId xmlns:a16="http://schemas.microsoft.com/office/drawing/2014/main" id="{1DB37680-3B50-4196-8FAA-834A5BA722FC}"/>
              </a:ext>
            </a:extLst>
          </p:cNvPr>
          <p:cNvPicPr>
            <a:picLocks xmlns:a="http://schemas.openxmlformats.org/drawingml/2006/main" noChangeAspect="1"/>
          </p:cNvPicPr>
          <p:nvPr/>
        </p:nvPicPr>
        <p:blipFill>
          <a:blip xmlns:r="http://schemas.openxmlformats.org/officeDocument/2006/relationships" xmlns:a="http://schemas.openxmlformats.org/drawingml/2006/main" r:embed="R0e6700c7ac0443cc"/>
          <a:srcRect xmlns:a="http://schemas.openxmlformats.org/drawingml/2006/main" l="0" t="0" r="0" b="0"/>
          <a:stretch xmlns:a="http://schemas.openxmlformats.org/drawingml/2006/main"/>
        </p:blipFill>
        <p:spPr>
          <a:xfrm xmlns:a="http://schemas.openxmlformats.org/drawingml/2006/main">
            <a:off x="571500" y="1752103"/>
            <a:ext cx="10382250" cy="5811244"/>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7322CDF-1B68-45EC-BD8E-6B89B71BBCFD}"/>
              </a:ext>
            </a:extLst>
          </p:cNvPr>
          <p:cNvPicPr>
            <a:picLocks xmlns:a="http://schemas.openxmlformats.org/drawingml/2006/main" noChangeAspect="1"/>
          </p:cNvPicPr>
          <p:nvPr/>
        </p:nvPicPr>
        <p:blipFill>
          <a:blip xmlns:r="http://schemas.openxmlformats.org/officeDocument/2006/relationships" xmlns:a="http://schemas.openxmlformats.org/drawingml/2006/main" r:embed="Rc6728b82900e42da"/>
          <a:srcRect xmlns:a="http://schemas.openxmlformats.org/drawingml/2006/main" l="0" t="0" r="0" b="0"/>
          <a:stretch xmlns:a="http://schemas.openxmlformats.org/drawingml/2006/main"/>
        </p:blipFill>
        <p:spPr>
          <a:xfrm xmlns:a="http://schemas.openxmlformats.org/drawingml/2006/main">
            <a:off x="11746230" y="1743075"/>
            <a:ext cx="2606040" cy="180975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E9B9CDF9-746F-4485-8A33-A3ED6FCFA8AB}"/>
              </a:ext>
            </a:extLst>
          </p:cNvPr>
          <p:cNvSpPr>
            <a:spLocks xmlns:a="http://schemas.openxmlformats.org/drawingml/2006/main" noGrp="1"/>
          </p:cNvSpPr>
          <p:nvPr/>
        </p:nvSpPr>
        <p:spPr>
          <a:xfrm xmlns:a="http://schemas.openxmlformats.org/drawingml/2006/main">
            <a:off x="11430000" y="38100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F46E5"/>
                </a:solidFill>
                <a:latin typeface="DejaVu Sans"/>
                <a:ea typeface="DejaVu Sans"/>
                <a:cs typeface="DejaVu Sans"/>
              </a:defRPr>
            </a:defPPr>
          </a:lstStyle>
          <a:p xmlns:a="http://schemas.openxmlformats.org/drawingml/2006/main">
            <a:pPr algn="l">
              <a:defRPr sz="2175" b="1">
                <a:solidFill>
                  <a:srgbClr val="4F46E5"/>
                </a:solidFill>
                <a:latin typeface="DejaVu Sans"/>
                <a:ea typeface="DejaVu Sans"/>
                <a:cs typeface="DejaVu Sans"/>
              </a:defRPr>
            </a:pPr>
            <a:r>
              <a:rPr sz="2175" b="1">
                <a:solidFill>
                  <a:srgbClr val="4F46E5"/>
                </a:solidFill>
                <a:latin typeface="DejaVu Sans"/>
                <a:ea typeface="DejaVu Sans"/>
                <a:cs typeface="DejaVu Sans"/>
              </a:rPr>
              <a:t>SQL I used</a:t>
            </a:r>
          </a:p>
        </p:txBody>
      </p:sp>
      <p:sp>
        <p:nvSpPr>
          <p:cNvPr id="8" name="text">
            <a:extLst xmlns:a="http://schemas.openxmlformats.org/drawingml/2006/main">
              <a:ext uri="{FF2B5EF4-FFF2-40B4-BE49-F238E27FC236}">
                <a16:creationId xmlns:a16="http://schemas.microsoft.com/office/drawing/2014/main" id="{0C697DC4-466D-4C49-BC9C-1CD2B63E0D0D}"/>
              </a:ext>
            </a:extLst>
          </p:cNvPr>
          <p:cNvSpPr>
            <a:spLocks xmlns:a="http://schemas.openxmlformats.org/drawingml/2006/main" noGrp="1"/>
          </p:cNvSpPr>
          <p:nvPr/>
        </p:nvSpPr>
        <p:spPr>
          <a:xfrm xmlns:a="http://schemas.openxmlformats.org/drawingml/2006/main">
            <a:off x="11430000" y="4286250"/>
            <a:ext cx="3238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240"/>
                </a:solidFill>
                <a:latin typeface="DejaVu Sans"/>
                <a:ea typeface="DejaVu Sans"/>
                <a:cs typeface="DejaVu Sans"/>
              </a:defRPr>
            </a:defPPr>
          </a:lstStyle>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COUNT, MIN/MAX, AVG: coverage and means.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ROW_NUMBER, window AVG: complete MAs.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LAG and CASE: crossing labels.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JOIN, UNION ALL, CTEs: combine stocks.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SUM, ROUND, SQRT: counts and risk.</a:t>
            </a:r>
          </a:p>
        </p:txBody>
      </p:sp>
      <p:sp>
        <p:nvSpPr>
          <p:cNvPr id="9" name="text">
            <a:extLst xmlns:a="http://schemas.openxmlformats.org/drawingml/2006/main">
              <a:ext uri="{FF2B5EF4-FFF2-40B4-BE49-F238E27FC236}">
                <a16:creationId xmlns:a16="http://schemas.microsoft.com/office/drawing/2014/main" id="{B3BD27AD-DCB1-4C78-8196-AF24D291B85F}"/>
              </a:ext>
            </a:extLst>
          </p:cNvPr>
          <p:cNvSpPr>
            <a:spLocks xmlns:a="http://schemas.openxmlformats.org/drawingml/2006/main" noGrp="1"/>
          </p:cNvSpPr>
          <p:nvPr/>
        </p:nvSpPr>
        <p:spPr>
          <a:xfrm xmlns:a="http://schemas.openxmlformats.org/drawingml/2006/main">
            <a:off x="571500" y="77343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18D"/>
                </a:solidFill>
                <a:latin typeface="DejaVu Sans"/>
                <a:ea typeface="DejaVu Sans"/>
                <a:cs typeface="DejaVu Sans"/>
              </a:defRPr>
            </a:defPPr>
          </a:lstStyle>
          <a:p xmlns:a="http://schemas.openxmlformats.org/drawingml/2006/main">
            <a:pPr algn="l">
              <a:defRPr sz="1500" b="0">
                <a:solidFill>
                  <a:srgbClr val="60718D"/>
                </a:solidFill>
                <a:latin typeface="DejaVu Sans"/>
                <a:ea typeface="DejaVu Sans"/>
                <a:cs typeface="DejaVu Sans"/>
              </a:defRPr>
            </a:pPr>
            <a:r>
              <a:rPr sz="1500" b="0">
                <a:solidFill>
                  <a:srgbClr val="60718D"/>
                </a:solidFill>
                <a:latin typeface="DejaVu Sans"/>
                <a:ea typeface="DejaVu Sans"/>
                <a:cs typeface="DejaVu Sans"/>
              </a:rPr>
              <a:t>The playground runs one read-only SELECT or WITH … SELECT, with a result row cap and a five-second execution limit.</a:t>
            </a:r>
          </a:p>
        </p:txBody>
      </p:sp>
    </p:spTree>
    <p:extLst>
      <p:ext uri="{BB962C8B-B14F-4D97-AF65-F5344CB8AC3E}">
        <p14:creationId xmlns:p14="http://schemas.microsoft.com/office/powerpoint/2010/main" val="532615466"/>
      </p:ext>
    </p:extLst>
  </p:cSld>
</p:sld>
</file>

<file path=ppt/slides/slide10.xml><?xml version="1.0" encoding="utf-8"?>
<p:sld xmlns:p="http://schemas.openxmlformats.org/presentationml/2006/main">
  <p:cSld>
    <p:bg>
      <p:bgPr>
        <a:solidFill xmlns:a="http://schemas.openxmlformats.org/drawingml/2006/main">
          <a:srgbClr val="F5F7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B4EEB0A-74DB-41E7-A923-50674131E4A1}"/>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240"/>
                </a:solidFill>
                <a:latin typeface="DejaVu Sans"/>
                <a:ea typeface="DejaVu Sans"/>
                <a:cs typeface="DejaVu Sans"/>
              </a:defRPr>
            </a:defPPr>
          </a:lstStyle>
          <a:p xmlns:a="http://schemas.openxmlformats.org/drawingml/2006/main">
            <a:pPr algn="l">
              <a:defRPr sz="3450" b="1">
                <a:solidFill>
                  <a:srgbClr val="142240"/>
                </a:solidFill>
                <a:latin typeface="DejaVu Sans"/>
                <a:ea typeface="DejaVu Sans"/>
                <a:cs typeface="DejaVu Sans"/>
              </a:defRPr>
            </a:pPr>
            <a:r>
              <a:rPr sz="3450" b="1">
                <a:solidFill>
                  <a:srgbClr val="142240"/>
                </a:solidFill>
                <a:latin typeface="DejaVu Sans"/>
                <a:ea typeface="DejaVu Sans"/>
                <a:cs typeface="DejaVu Sans"/>
              </a:rPr>
              <a:t>Query results I can inspect and share</a:t>
            </a:r>
          </a:p>
        </p:txBody>
      </p:sp>
      <p:sp>
        <p:nvSpPr>
          <p:cNvPr id="2" name="text">
            <a:extLst xmlns:a="http://schemas.openxmlformats.org/drawingml/2006/main">
              <a:ext uri="{FF2B5EF4-FFF2-40B4-BE49-F238E27FC236}">
                <a16:creationId xmlns:a16="http://schemas.microsoft.com/office/drawing/2014/main" id="{1908BC6A-A118-466C-9F35-B5AD73419857}"/>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The executed query returns a real result table, and I can make a chart from its numeric columns.</a:t>
            </a:r>
          </a:p>
        </p:txBody>
      </p:sp>
      <p:sp>
        <p:nvSpPr>
          <p:cNvPr id="3" name="text">
            <a:extLst xmlns:a="http://schemas.openxmlformats.org/drawingml/2006/main">
              <a:ext uri="{FF2B5EF4-FFF2-40B4-BE49-F238E27FC236}">
                <a16:creationId xmlns:a16="http://schemas.microsoft.com/office/drawing/2014/main" id="{AB86AFB9-62BA-4334-9FB2-D4A3A41DDCCA}"/>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D"/>
                </a:solidFill>
                <a:latin typeface="DejaVu Sans"/>
                <a:ea typeface="DejaVu Sans"/>
                <a:cs typeface="DejaVu Sans"/>
              </a:defRPr>
            </a:defPPr>
          </a:lstStyle>
          <a:p xmlns:a="http://schemas.openxmlformats.org/drawingml/2006/main">
            <a:pPr algn="l">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20B38BD7-EE5A-4A22-8DEB-118D4B35E3EB}"/>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8D"/>
                </a:solidFill>
                <a:latin typeface="DejaVu Sans"/>
                <a:ea typeface="DejaVu Sans"/>
                <a:cs typeface="DejaVu Sans"/>
              </a:defRPr>
            </a:defPPr>
          </a:lstStyle>
          <a:p xmlns:a="http://schemas.openxmlformats.org/drawingml/2006/main">
            <a:pPr algn="r">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10 / 12</a:t>
            </a:r>
          </a:p>
        </p:txBody>
      </p:sp>
      <p:pic>
        <p:nvPicPr>
          <p:cNvPr id="5" name="">
            <a:extLst xmlns:a="http://schemas.openxmlformats.org/drawingml/2006/main">
              <a:ext uri="{FF2B5EF4-FFF2-40B4-BE49-F238E27FC236}">
                <a16:creationId xmlns:a16="http://schemas.microsoft.com/office/drawing/2014/main" id="{1F90E53C-5010-41D2-9771-A5FB6A7B2D8C}"/>
              </a:ext>
            </a:extLst>
          </p:cNvPr>
          <p:cNvPicPr>
            <a:picLocks xmlns:a="http://schemas.openxmlformats.org/drawingml/2006/main" noChangeAspect="1"/>
          </p:cNvPicPr>
          <p:nvPr/>
        </p:nvPicPr>
        <p:blipFill>
          <a:blip xmlns:r="http://schemas.openxmlformats.org/officeDocument/2006/relationships" xmlns:a="http://schemas.openxmlformats.org/drawingml/2006/main" r:embed="Rbb1c25cbaa3b461b"/>
          <a:srcRect xmlns:a="http://schemas.openxmlformats.org/drawingml/2006/main" l="0" t="0" r="0" b="0"/>
          <a:stretch xmlns:a="http://schemas.openxmlformats.org/drawingml/2006/main"/>
        </p:blipFill>
        <p:spPr>
          <a:xfrm xmlns:a="http://schemas.openxmlformats.org/drawingml/2006/main">
            <a:off x="571500" y="1738563"/>
            <a:ext cx="10382250" cy="583832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1D784A7C-39D3-47DB-BE9F-A5F334AE830F}"/>
              </a:ext>
            </a:extLst>
          </p:cNvPr>
          <p:cNvPicPr>
            <a:picLocks xmlns:a="http://schemas.openxmlformats.org/drawingml/2006/main" noChangeAspect="1"/>
          </p:cNvPicPr>
          <p:nvPr/>
        </p:nvPicPr>
        <p:blipFill>
          <a:blip xmlns:r="http://schemas.openxmlformats.org/officeDocument/2006/relationships" xmlns:a="http://schemas.openxmlformats.org/drawingml/2006/main" r:embed="R909dd96c960e4123"/>
          <a:srcRect xmlns:a="http://schemas.openxmlformats.org/drawingml/2006/main" l="0" t="0" r="0" b="0"/>
          <a:stretch xmlns:a="http://schemas.openxmlformats.org/drawingml/2006/main"/>
        </p:blipFill>
        <p:spPr>
          <a:xfrm xmlns:a="http://schemas.openxmlformats.org/drawingml/2006/main">
            <a:off x="11746230" y="1743075"/>
            <a:ext cx="2606040" cy="180975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3D35F9B9-E3A6-4789-8073-013D8FD9439E}"/>
              </a:ext>
            </a:extLst>
          </p:cNvPr>
          <p:cNvSpPr>
            <a:spLocks xmlns:a="http://schemas.openxmlformats.org/drawingml/2006/main" noGrp="1"/>
          </p:cNvSpPr>
          <p:nvPr/>
        </p:nvSpPr>
        <p:spPr>
          <a:xfrm xmlns:a="http://schemas.openxmlformats.org/drawingml/2006/main">
            <a:off x="11430000" y="38100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F46E5"/>
                </a:solidFill>
                <a:latin typeface="DejaVu Sans"/>
                <a:ea typeface="DejaVu Sans"/>
                <a:cs typeface="DejaVu Sans"/>
              </a:defRPr>
            </a:defPPr>
          </a:lstStyle>
          <a:p xmlns:a="http://schemas.openxmlformats.org/drawingml/2006/main">
            <a:pPr algn="l">
              <a:defRPr sz="2175" b="1">
                <a:solidFill>
                  <a:srgbClr val="4F46E5"/>
                </a:solidFill>
                <a:latin typeface="DejaVu Sans"/>
                <a:ea typeface="DejaVu Sans"/>
                <a:cs typeface="DejaVu Sans"/>
              </a:defRPr>
            </a:pPr>
            <a:r>
              <a:rPr sz="2175" b="1">
                <a:solidFill>
                  <a:srgbClr val="4F46E5"/>
                </a:solidFill>
                <a:latin typeface="DejaVu Sans"/>
                <a:ea typeface="DejaVu Sans"/>
                <a:cs typeface="DejaVu Sans"/>
              </a:rPr>
              <a:t>Results and exports</a:t>
            </a:r>
          </a:p>
        </p:txBody>
      </p:sp>
      <p:sp>
        <p:nvSpPr>
          <p:cNvPr id="8" name="text">
            <a:extLst xmlns:a="http://schemas.openxmlformats.org/drawingml/2006/main">
              <a:ext uri="{FF2B5EF4-FFF2-40B4-BE49-F238E27FC236}">
                <a16:creationId xmlns:a16="http://schemas.microsoft.com/office/drawing/2014/main" id="{90DB5DB3-5564-424D-A5F1-F5097AF51251}"/>
              </a:ext>
            </a:extLst>
          </p:cNvPr>
          <p:cNvSpPr>
            <a:spLocks xmlns:a="http://schemas.openxmlformats.org/drawingml/2006/main" noGrp="1"/>
          </p:cNvSpPr>
          <p:nvPr/>
        </p:nvSpPr>
        <p:spPr>
          <a:xfrm xmlns:a="http://schemas.openxmlformats.org/drawingml/2006/main">
            <a:off x="11430000" y="4286250"/>
            <a:ext cx="3238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240"/>
                </a:solidFill>
                <a:latin typeface="DejaVu Sans"/>
                <a:ea typeface="DejaVu Sans"/>
                <a:cs typeface="DejaVu Sans"/>
              </a:defRPr>
            </a:defPPr>
          </a:lstStyle>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Raw task 10 returns six rows.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Total: 56 Buy and 57 Sell.</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CSV, JSON and SQL downloads.</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Choose X, Y and bar/line/scatter.</a:t>
            </a:r>
          </a:p>
          <a:p xmlns:a="http://schemas.openxmlformats.org/drawingml/2006/main">
            <a:pPr marL="228600" indent="-114300" algn="l">
              <a:spcAft>
                <a:spcPts val="1000"/>
              </a:spcAft>
              <a:buChar char="•"/>
              <a:defRPr sz="1800" b="0">
                <a:solidFill>
                  <a:srgbClr val="142240"/>
                </a:solidFill>
                <a:latin typeface="DejaVu Sans"/>
                <a:ea typeface="DejaVu Sans"/>
                <a:cs typeface="DejaVu Sans"/>
              </a:defRPr>
            </a:pPr>
            <a:r>
              <a:rPr sz="1800" b="0">
                <a:solidFill>
                  <a:srgbClr val="142240"/>
                </a:solidFill>
                <a:latin typeface="DejaVu Sans"/>
                <a:ea typeface="DejaVu Sans"/>
                <a:cs typeface="DejaVu Sans"/>
              </a:rPr>
              <a:t>Ten recent queries per session.</a:t>
            </a:r>
          </a:p>
        </p:txBody>
      </p:sp>
      <p:sp>
        <p:nvSpPr>
          <p:cNvPr id="9" name="text">
            <a:extLst xmlns:a="http://schemas.openxmlformats.org/drawingml/2006/main">
              <a:ext uri="{FF2B5EF4-FFF2-40B4-BE49-F238E27FC236}">
                <a16:creationId xmlns:a16="http://schemas.microsoft.com/office/drawing/2014/main" id="{586FE7DE-95B6-4966-82B7-93F4CBD9372C}"/>
              </a:ext>
            </a:extLst>
          </p:cNvPr>
          <p:cNvSpPr>
            <a:spLocks xmlns:a="http://schemas.openxmlformats.org/drawingml/2006/main" noGrp="1"/>
          </p:cNvSpPr>
          <p:nvPr/>
        </p:nvSpPr>
        <p:spPr>
          <a:xfrm xmlns:a="http://schemas.openxmlformats.org/drawingml/2006/main">
            <a:off x="571500" y="77343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18D"/>
                </a:solidFill>
                <a:latin typeface="DejaVu Sans"/>
                <a:ea typeface="DejaVu Sans"/>
                <a:cs typeface="DejaVu Sans"/>
              </a:defRPr>
            </a:defPPr>
          </a:lstStyle>
          <a:p xmlns:a="http://schemas.openxmlformats.org/drawingml/2006/main">
            <a:pPr algn="l">
              <a:defRPr sz="1500" b="0">
                <a:solidFill>
                  <a:srgbClr val="60718D"/>
                </a:solidFill>
                <a:latin typeface="DejaVu Sans"/>
                <a:ea typeface="DejaVu Sans"/>
                <a:cs typeface="DejaVu Sans"/>
              </a:defRPr>
            </a:pPr>
            <a:r>
              <a:rPr sz="1500" b="0">
                <a:solidFill>
                  <a:srgbClr val="60718D"/>
                </a:solidFill>
                <a:latin typeface="DejaVu Sans"/>
                <a:ea typeface="DejaVu Sans"/>
                <a:cs typeface="DejaVu Sans"/>
              </a:rPr>
              <a:t>Task 10 reads the raw assignment tables even when the sidebar says Adjusted. Use selected_prices to follow the sidebar.</a:t>
            </a:r>
          </a:p>
        </p:txBody>
      </p:sp>
    </p:spTree>
    <p:extLst>
      <p:ext uri="{BB962C8B-B14F-4D97-AF65-F5344CB8AC3E}">
        <p14:creationId xmlns:p14="http://schemas.microsoft.com/office/powerpoint/2010/main" val="774300443"/>
      </p:ext>
    </p:extLst>
  </p:cSld>
</p:sld>
</file>

<file path=ppt/slides/slide11.xml><?xml version="1.0" encoding="utf-8"?>
<p:sld xmlns:p="http://schemas.openxmlformats.org/presentationml/2006/main">
  <p:cSld>
    <p:bg>
      <p:bgPr>
        <a:solidFill xmlns:a="http://schemas.openxmlformats.org/drawingml/2006/main">
          <a:srgbClr val="14224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329A964-1DC0-4096-ADAE-4228B959A695}"/>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DejaVu Sans"/>
                <a:ea typeface="DejaVu Sans"/>
                <a:cs typeface="DejaVu Sans"/>
              </a:defRPr>
            </a:defPPr>
          </a:lstStyle>
          <a:p xmlns:a="http://schemas.openxmlformats.org/drawingml/2006/main">
            <a:pPr algn="l">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What I found across the six stocks</a:t>
            </a:r>
          </a:p>
        </p:txBody>
      </p:sp>
      <p:sp>
        <p:nvSpPr>
          <p:cNvPr id="2" name="text">
            <a:extLst xmlns:a="http://schemas.openxmlformats.org/drawingml/2006/main">
              <a:ext uri="{FF2B5EF4-FFF2-40B4-BE49-F238E27FC236}">
                <a16:creationId xmlns:a16="http://schemas.microsoft.com/office/drawing/2014/main" id="{D8C85996-BA0A-42E0-BE58-EBCB9A0C5B3E}"/>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9D5EF"/>
                </a:solidFill>
                <a:latin typeface="DejaVu Sans"/>
                <a:ea typeface="DejaVu Sans"/>
                <a:cs typeface="DejaVu Sans"/>
              </a:defRPr>
            </a:defPPr>
          </a:lstStyle>
          <a:p xmlns:a="http://schemas.openxmlformats.org/drawingml/2006/main">
            <a:pPr algn="l">
              <a:defRPr sz="1875" b="0">
                <a:solidFill>
                  <a:srgbClr val="C9D5EF"/>
                </a:solidFill>
                <a:latin typeface="DejaVu Sans"/>
                <a:ea typeface="DejaVu Sans"/>
                <a:cs typeface="DejaVu Sans"/>
              </a:defRPr>
            </a:pPr>
            <a:r>
              <a:rPr sz="1875" b="0">
                <a:solidFill>
                  <a:srgbClr val="C9D5EF"/>
                </a:solidFill>
                <a:latin typeface="DejaVu Sans"/>
                <a:ea typeface="DejaVu Sans"/>
                <a:cs typeface="DejaVu Sans"/>
              </a:rPr>
              <a:t>The adjusted results separate full-period price changes from the latest crossing and the cost scenario.</a:t>
            </a:r>
          </a:p>
        </p:txBody>
      </p:sp>
      <p:sp>
        <p:nvSpPr>
          <p:cNvPr id="3" name="text">
            <a:extLst xmlns:a="http://schemas.openxmlformats.org/drawingml/2006/main">
              <a:ext uri="{FF2B5EF4-FFF2-40B4-BE49-F238E27FC236}">
                <a16:creationId xmlns:a16="http://schemas.microsoft.com/office/drawing/2014/main" id="{D8F57A45-016A-4BDA-A14F-FE1D2E0874D0}"/>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C9D5EF"/>
                </a:solidFill>
                <a:latin typeface="DejaVu Sans"/>
                <a:ea typeface="DejaVu Sans"/>
                <a:cs typeface="DejaVu Sans"/>
              </a:defRPr>
            </a:defPPr>
          </a:lstStyle>
          <a:p xmlns:a="http://schemas.openxmlformats.org/drawingml/2006/main">
            <a:pPr algn="l">
              <a:defRPr sz="1275" b="0">
                <a:solidFill>
                  <a:srgbClr val="C9D5EF"/>
                </a:solidFill>
                <a:latin typeface="DejaVu Sans"/>
                <a:ea typeface="DejaVu Sans"/>
                <a:cs typeface="DejaVu Sans"/>
              </a:defRPr>
            </a:pPr>
            <a:r>
              <a:rPr sz="1275" b="0">
                <a:solidFill>
                  <a:srgbClr val="C9D5EF"/>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4957825C-7779-4666-BDF8-4CE0E5C5E226}"/>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C9D5EF"/>
                </a:solidFill>
                <a:latin typeface="DejaVu Sans"/>
                <a:ea typeface="DejaVu Sans"/>
                <a:cs typeface="DejaVu Sans"/>
              </a:defRPr>
            </a:defPPr>
          </a:lstStyle>
          <a:p xmlns:a="http://schemas.openxmlformats.org/drawingml/2006/main">
            <a:pPr algn="r">
              <a:defRPr sz="1275" b="0">
                <a:solidFill>
                  <a:srgbClr val="C9D5EF"/>
                </a:solidFill>
                <a:latin typeface="DejaVu Sans"/>
                <a:ea typeface="DejaVu Sans"/>
                <a:cs typeface="DejaVu Sans"/>
              </a:defRPr>
            </a:pPr>
            <a:r>
              <a:rPr sz="1275" b="0">
                <a:solidFill>
                  <a:srgbClr val="C9D5EF"/>
                </a:solidFill>
                <a:latin typeface="DejaVu Sans"/>
                <a:ea typeface="DejaVu Sans"/>
                <a:cs typeface="DejaVu Sans"/>
              </a:rPr>
              <a:t>11 / 12</a:t>
            </a:r>
          </a:p>
        </p:txBody>
      </p:sp>
      <p:graphicFrame>
        <p:nvGraphicFramePr>
          <p:cNvPr id="5" name="">
            <a:extLst xmlns:a="http://schemas.openxmlformats.org/drawingml/2006/main">
              <a:ext uri="{FF2B5EF4-FFF2-40B4-BE49-F238E27FC236}">
                <a16:creationId xmlns:a16="http://schemas.microsoft.com/office/drawing/2014/main" id="{543CA549-A9DF-4043-AB0C-DAC89F979CFD}"/>
              </a:ext>
            </a:extLst>
          </p:cNvPr>
          <p:cNvGraphicFramePr/>
          <p:nvPr/>
        </p:nvGraphicFramePr>
        <p:xfrm>
          <a:off xmlns:a="http://schemas.openxmlformats.org/drawingml/2006/main" x="571500" y="1905000"/>
          <a:ext xmlns:a="http://schemas.openxmlformats.org/drawingml/2006/main" cx="14097000" cy="4857750"/>
        </p:xfrm>
        <a:graphic xmlns:a="http://schemas.openxmlformats.org/drawingml/2006/main">
          <a:graphicData uri="http://schemas.openxmlformats.org/drawingml/2006/table">
            <a:tbl>
              <a:tblPr/>
              <a:tblGrid>
                <a:gridCol w="2209800"/>
                <a:gridCol w="1524000"/>
                <a:gridCol w="1143000"/>
                <a:gridCol w="2724150"/>
                <a:gridCol w="1809750"/>
                <a:gridCol w="2457450"/>
                <a:gridCol w="2228850"/>
              </a:tblGrid>
              <a:tr h="781050">
                <a:tc>
                  <a:txBody>
                    <a:bodyPr>
                      <a:noAutofit/>
                    </a:bodyPr>
                    <a:lstStyle/>
                    <a:p>
                      <a:r>
                        <a:rPr sz="1800" b="1">
                          <a:solidFill>
                            <a:srgbClr val="FFFFFF"/>
                          </a:solidFill>
                          <a:latin typeface="DejaVu Sans"/>
                          <a:ea typeface="DejaVu Sans"/>
                          <a:cs typeface="DejaVu Sans"/>
                        </a:rPr>
                        <a:t>Stock</a:t>
                      </a:r>
                    </a:p>
                  </a:txBody>
                  <a:tcPr marL="114300" marR="95250" marT="47625" marB="47625" anchor="ctr">
                    <a:solidFill>
                      <a:srgbClr val="4F46E5"/>
                    </a:solidFill>
                  </a:tcPr>
                </a:tc>
                <a:tc>
                  <a:txBody>
                    <a:bodyPr>
                      <a:noAutofit/>
                    </a:bodyPr>
                    <a:lstStyle/>
                    <a:p>
                      <a:r>
                        <a:rPr sz="1800" b="1">
                          <a:solidFill>
                            <a:srgbClr val="FFFFFF"/>
                          </a:solidFill>
                          <a:latin typeface="DejaVu Sans"/>
                          <a:ea typeface="DejaVu Sans"/>
                          <a:cs typeface="DejaVu Sans"/>
                        </a:rPr>
                        <a:t>Price</a:t>
                      </a:r>
                    </a:p>
                    <a:p>
                      <a:r>
                        <a:rPr sz="1800" b="1">
                          <a:solidFill>
                            <a:srgbClr val="FFFFFF"/>
                          </a:solidFill>
                          <a:latin typeface="DejaVu Sans"/>
                          <a:ea typeface="DejaVu Sans"/>
                          <a:cs typeface="DejaVu Sans"/>
                        </a:rPr>
                        <a:t>change</a:t>
                      </a:r>
                    </a:p>
                  </a:txBody>
                  <a:tcPr marL="114300" marR="95250" marT="47625" marB="47625" anchor="ctr">
                    <a:solidFill>
                      <a:srgbClr val="4F46E5"/>
                    </a:solidFill>
                  </a:tcPr>
                </a:tc>
                <a:tc>
                  <a:txBody>
                    <a:bodyPr>
                      <a:noAutofit/>
                    </a:bodyPr>
                    <a:lstStyle/>
                    <a:p>
                      <a:r>
                        <a:rPr sz="1800" b="1">
                          <a:solidFill>
                            <a:srgbClr val="FFFFFF"/>
                          </a:solidFill>
                          <a:latin typeface="DejaVu Sans"/>
                          <a:ea typeface="DejaVu Sans"/>
                          <a:cs typeface="DejaVu Sans"/>
                        </a:rPr>
                        <a:t>Buy /</a:t>
                      </a:r>
                    </a:p>
                    <a:p>
                      <a:r>
                        <a:rPr sz="1800" b="1">
                          <a:solidFill>
                            <a:srgbClr val="FFFFFF"/>
                          </a:solidFill>
                          <a:latin typeface="DejaVu Sans"/>
                          <a:ea typeface="DejaVu Sans"/>
                          <a:cs typeface="DejaVu Sans"/>
                        </a:rPr>
                        <a:t>Sell</a:t>
                      </a:r>
                    </a:p>
                  </a:txBody>
                  <a:tcPr marL="114300" marR="95250" marT="47625" marB="47625" anchor="ctr">
                    <a:solidFill>
                      <a:srgbClr val="4F46E5"/>
                    </a:solidFill>
                  </a:tcPr>
                </a:tc>
                <a:tc>
                  <a:txBody>
                    <a:bodyPr>
                      <a:noAutofit/>
                    </a:bodyPr>
                    <a:lstStyle/>
                    <a:p>
                      <a:r>
                        <a:rPr sz="1800" b="1">
                          <a:solidFill>
                            <a:srgbClr val="FFFFFF"/>
                          </a:solidFill>
                          <a:latin typeface="DejaVu Sans"/>
                          <a:ea typeface="DejaVu Sans"/>
                          <a:cs typeface="DejaVu Sans"/>
                        </a:rPr>
                        <a:t>Latest adjusted</a:t>
                      </a:r>
                    </a:p>
                    <a:p>
                      <a:r>
                        <a:rPr sz="1800" b="1">
                          <a:solidFill>
                            <a:srgbClr val="FFFFFF"/>
                          </a:solidFill>
                          <a:latin typeface="DejaVu Sans"/>
                          <a:ea typeface="DejaVu Sans"/>
                          <a:cs typeface="DejaVu Sans"/>
                        </a:rPr>
                        <a:t>crossover</a:t>
                      </a:r>
                    </a:p>
                  </a:txBody>
                  <a:tcPr marL="114300" marR="95250" marT="47625" marB="47625" anchor="ctr">
                    <a:solidFill>
                      <a:srgbClr val="4F46E5"/>
                    </a:solidFill>
                  </a:tcPr>
                </a:tc>
                <a:tc>
                  <a:txBody>
                    <a:bodyPr>
                      <a:noAutofit/>
                    </a:bodyPr>
                    <a:lstStyle/>
                    <a:p>
                      <a:r>
                        <a:rPr sz="1800" b="1">
                          <a:solidFill>
                            <a:srgbClr val="FFFFFF"/>
                          </a:solidFill>
                          <a:latin typeface="DejaVu Sans"/>
                          <a:ea typeface="DejaVu Sans"/>
                          <a:cs typeface="DejaVu Sans"/>
                        </a:rPr>
                        <a:t>Quick</a:t>
                      </a:r>
                    </a:p>
                    <a:p>
                      <a:r>
                        <a:rPr sz="1800" b="1">
                          <a:solidFill>
                            <a:srgbClr val="FFFFFF"/>
                          </a:solidFill>
                          <a:latin typeface="DejaVu Sans"/>
                          <a:ea typeface="DejaVu Sans"/>
                          <a:cs typeface="DejaVu Sans"/>
                        </a:rPr>
                        <a:t>reversals</a:t>
                      </a:r>
                    </a:p>
                  </a:txBody>
                  <a:tcPr marL="114300" marR="95250" marT="47625" marB="47625" anchor="ctr">
                    <a:solidFill>
                      <a:srgbClr val="4F46E5"/>
                    </a:solidFill>
                  </a:tcPr>
                </a:tc>
                <a:tc>
                  <a:txBody>
                    <a:bodyPr>
                      <a:noAutofit/>
                    </a:bodyPr>
                    <a:lstStyle/>
                    <a:p>
                      <a:r>
                        <a:rPr sz="1800" b="1">
                          <a:solidFill>
                            <a:srgbClr val="FFFFFF"/>
                          </a:solidFill>
                          <a:latin typeface="DejaVu Sans"/>
                          <a:ea typeface="DejaVu Sans"/>
                          <a:cs typeface="DejaVu Sans"/>
                        </a:rPr>
                        <a:t>Net scenario</a:t>
                      </a:r>
                    </a:p>
                    <a:p>
                      <a:r>
                        <a:rPr sz="1800" b="1">
                          <a:solidFill>
                            <a:srgbClr val="FFFFFF"/>
                          </a:solidFill>
                          <a:latin typeface="DejaVu Sans"/>
                          <a:ea typeface="DejaVu Sans"/>
                          <a:cs typeface="DejaVu Sans"/>
                        </a:rPr>
                        <a:t>return</a:t>
                      </a:r>
                    </a:p>
                  </a:txBody>
                  <a:tcPr marL="114300" marR="95250" marT="47625" marB="47625" anchor="ctr">
                    <a:solidFill>
                      <a:srgbClr val="4F46E5"/>
                    </a:solidFill>
                  </a:tcPr>
                </a:tc>
                <a:tc>
                  <a:txBody>
                    <a:bodyPr>
                      <a:noAutofit/>
                    </a:bodyPr>
                    <a:lstStyle/>
                    <a:p>
                      <a:r>
                        <a:rPr sz="1800" b="1">
                          <a:solidFill>
                            <a:srgbClr val="FFFFFF"/>
                          </a:solidFill>
                          <a:latin typeface="DejaVu Sans"/>
                          <a:ea typeface="DejaVu Sans"/>
                          <a:cs typeface="DejaVu Sans"/>
                        </a:rPr>
                        <a:t>Maximum</a:t>
                      </a:r>
                    </a:p>
                    <a:p>
                      <a:r>
                        <a:rPr sz="1800" b="1">
                          <a:solidFill>
                            <a:srgbClr val="FFFFFF"/>
                          </a:solidFill>
                          <a:latin typeface="DejaVu Sans"/>
                          <a:ea typeface="DejaVu Sans"/>
                          <a:cs typeface="DejaVu Sans"/>
                        </a:rPr>
                        <a:t>drawdown</a:t>
                      </a:r>
                    </a:p>
                  </a:txBody>
                  <a:tcPr marL="114300" marR="95250" marT="47625" marB="47625" anchor="ctr">
                    <a:solidFill>
                      <a:srgbClr val="4F46E5"/>
                    </a:solidFill>
                  </a:tcPr>
                </a:tc>
              </a:tr>
              <a:tr h="679450">
                <a:tc>
                  <a:txBody>
                    <a:bodyPr>
                      <a:noAutofit/>
                    </a:bodyPr>
                    <a:lstStyle/>
                    <a:p>
                      <a:r>
                        <a:rPr sz="1800" b="0">
                          <a:solidFill>
                            <a:srgbClr val="FFFFFF"/>
                          </a:solidFill>
                          <a:latin typeface="DejaVu Sans"/>
                          <a:ea typeface="DejaVu Sans"/>
                          <a:cs typeface="DejaVu Sans"/>
                        </a:rPr>
                        <a:t>Bajaj Auto</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+10.05%</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12 / 11</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Buy</a:t>
                      </a:r>
                    </a:p>
                    <a:p>
                      <a:r>
                        <a:rPr sz="1800" b="0">
                          <a:solidFill>
                            <a:srgbClr val="FFFFFF"/>
                          </a:solidFill>
                          <a:latin typeface="DejaVu Sans"/>
                          <a:ea typeface="DejaVu Sans"/>
                          <a:cs typeface="DejaVu Sans"/>
                        </a:rPr>
                        <a:t>21 Jun 2018</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11</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-1.09%</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-23.18%</a:t>
                      </a:r>
                    </a:p>
                  </a:txBody>
                  <a:tcPr marL="114300" marR="95250" marT="47625" marB="47625" anchor="ctr">
                    <a:solidFill>
                      <a:srgbClr val="1B2B4B"/>
                    </a:solidFill>
                  </a:tcPr>
                </a:tc>
              </a:tr>
              <a:tr h="679450">
                <a:tc>
                  <a:txBody>
                    <a:bodyPr>
                      <a:noAutofit/>
                    </a:bodyPr>
                    <a:lstStyle/>
                    <a:p>
                      <a:r>
                        <a:rPr sz="1800" b="0">
                          <a:solidFill>
                            <a:srgbClr val="FFFFFF"/>
                          </a:solidFill>
                          <a:latin typeface="DejaVu Sans"/>
                          <a:ea typeface="DejaVu Sans"/>
                          <a:cs typeface="DejaVu Sans"/>
                        </a:rPr>
                        <a:t>Eicher Motors</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+82.56%</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6 / 7</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Sell</a:t>
                      </a:r>
                    </a:p>
                    <a:p>
                      <a:r>
                        <a:rPr sz="1800" b="0">
                          <a:solidFill>
                            <a:srgbClr val="FFFFFF"/>
                          </a:solidFill>
                          <a:latin typeface="DejaVu Sans"/>
                          <a:ea typeface="DejaVu Sans"/>
                          <a:cs typeface="DejaVu Sans"/>
                        </a:rPr>
                        <a:t>06 Jun 2018</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1</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+71.03%</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-28.32%</a:t>
                      </a:r>
                    </a:p>
                  </a:txBody>
                  <a:tcPr marL="114300" marR="95250" marT="47625" marB="47625" anchor="ctr">
                    <a:solidFill>
                      <a:srgbClr val="203253"/>
                    </a:solidFill>
                  </a:tcPr>
                </a:tc>
              </a:tr>
              <a:tr h="679450">
                <a:tc>
                  <a:txBody>
                    <a:bodyPr>
                      <a:noAutofit/>
                    </a:bodyPr>
                    <a:lstStyle/>
                    <a:p>
                      <a:r>
                        <a:rPr sz="1800" b="0">
                          <a:solidFill>
                            <a:srgbClr val="FFFFFF"/>
                          </a:solidFill>
                          <a:latin typeface="DejaVu Sans"/>
                          <a:ea typeface="DejaVu Sans"/>
                          <a:cs typeface="DejaVu Sans"/>
                        </a:rPr>
                        <a:t>Hero Motocorp</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+6.00%</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9 / 9</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Sell</a:t>
                      </a:r>
                    </a:p>
                    <a:p>
                      <a:r>
                        <a:rPr sz="1800" b="0">
                          <a:solidFill>
                            <a:srgbClr val="FFFFFF"/>
                          </a:solidFill>
                          <a:latin typeface="DejaVu Sans"/>
                          <a:ea typeface="DejaVu Sans"/>
                          <a:cs typeface="DejaVu Sans"/>
                        </a:rPr>
                        <a:t>22 May 2018</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4</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-18.68%</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-26.90%</a:t>
                      </a:r>
                    </a:p>
                  </a:txBody>
                  <a:tcPr marL="114300" marR="95250" marT="47625" marB="47625" anchor="ctr">
                    <a:solidFill>
                      <a:srgbClr val="1B2B4B"/>
                    </a:solidFill>
                  </a:tcPr>
                </a:tc>
              </a:tr>
              <a:tr h="679450">
                <a:tc>
                  <a:txBody>
                    <a:bodyPr>
                      <a:noAutofit/>
                    </a:bodyPr>
                    <a:lstStyle/>
                    <a:p>
                      <a:r>
                        <a:rPr sz="1800" b="0">
                          <a:solidFill>
                            <a:srgbClr val="FFFFFF"/>
                          </a:solidFill>
                          <a:latin typeface="DejaVu Sans"/>
                          <a:ea typeface="DejaVu Sans"/>
                          <a:cs typeface="DejaVu Sans"/>
                        </a:rPr>
                        <a:t>Infosys</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+38.17%</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10 / 10</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Buy</a:t>
                      </a:r>
                    </a:p>
                    <a:p>
                      <a:r>
                        <a:rPr sz="1800" b="0">
                          <a:solidFill>
                            <a:srgbClr val="FFFFFF"/>
                          </a:solidFill>
                          <a:latin typeface="DejaVu Sans"/>
                          <a:ea typeface="DejaVu Sans"/>
                          <a:cs typeface="DejaVu Sans"/>
                        </a:rPr>
                        <a:t>07 May 2018</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6</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+5.27%</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-31.06%</a:t>
                      </a:r>
                    </a:p>
                  </a:txBody>
                  <a:tcPr marL="114300" marR="95250" marT="47625" marB="47625" anchor="ctr">
                    <a:solidFill>
                      <a:srgbClr val="203253"/>
                    </a:solidFill>
                  </a:tcPr>
                </a:tc>
              </a:tr>
              <a:tr h="679450">
                <a:tc>
                  <a:txBody>
                    <a:bodyPr>
                      <a:noAutofit/>
                    </a:bodyPr>
                    <a:lstStyle/>
                    <a:p>
                      <a:r>
                        <a:rPr sz="1800" b="0">
                          <a:solidFill>
                            <a:srgbClr val="FFFFFF"/>
                          </a:solidFill>
                          <a:latin typeface="DejaVu Sans"/>
                          <a:ea typeface="DejaVu Sans"/>
                          <a:cs typeface="DejaVu Sans"/>
                        </a:rPr>
                        <a:t>TCS</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+52.36%</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12 / 12</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Buy</a:t>
                      </a:r>
                    </a:p>
                    <a:p>
                      <a:r>
                        <a:rPr sz="1800" b="0">
                          <a:solidFill>
                            <a:srgbClr val="FFFFFF"/>
                          </a:solidFill>
                          <a:latin typeface="DejaVu Sans"/>
                          <a:ea typeface="DejaVu Sans"/>
                          <a:cs typeface="DejaVu Sans"/>
                        </a:rPr>
                        <a:t>20 Apr 2018</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8</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-26.55%</a:t>
                      </a:r>
                    </a:p>
                  </a:txBody>
                  <a:tcPr marL="114300" marR="95250" marT="47625" marB="47625" anchor="ctr">
                    <a:solidFill>
                      <a:srgbClr val="1B2B4B"/>
                    </a:solidFill>
                  </a:tcPr>
                </a:tc>
                <a:tc>
                  <a:txBody>
                    <a:bodyPr>
                      <a:noAutofit/>
                    </a:bodyPr>
                    <a:lstStyle/>
                    <a:p>
                      <a:r>
                        <a:rPr sz="1800" b="0">
                          <a:solidFill>
                            <a:srgbClr val="FFFFFF"/>
                          </a:solidFill>
                          <a:latin typeface="DejaVu Sans"/>
                          <a:ea typeface="DejaVu Sans"/>
                          <a:cs typeface="DejaVu Sans"/>
                        </a:rPr>
                        <a:t>-24.13%</a:t>
                      </a:r>
                    </a:p>
                  </a:txBody>
                  <a:tcPr marL="114300" marR="95250" marT="47625" marB="47625" anchor="ctr">
                    <a:solidFill>
                      <a:srgbClr val="1B2B4B"/>
                    </a:solidFill>
                  </a:tcPr>
                </a:tc>
              </a:tr>
              <a:tr h="679450">
                <a:tc>
                  <a:txBody>
                    <a:bodyPr>
                      <a:noAutofit/>
                    </a:bodyPr>
                    <a:lstStyle/>
                    <a:p>
                      <a:r>
                        <a:rPr sz="1800" b="0">
                          <a:solidFill>
                            <a:srgbClr val="FFFFFF"/>
                          </a:solidFill>
                          <a:latin typeface="DejaVu Sans"/>
                          <a:ea typeface="DejaVu Sans"/>
                          <a:cs typeface="DejaVu Sans"/>
                        </a:rPr>
                        <a:t>TVS Motors</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+86.91%</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8 / 8</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Sell</a:t>
                      </a:r>
                    </a:p>
                    <a:p>
                      <a:r>
                        <a:rPr sz="1800" b="0">
                          <a:solidFill>
                            <a:srgbClr val="FFFFFF"/>
                          </a:solidFill>
                          <a:latin typeface="DejaVu Sans"/>
                          <a:ea typeface="DejaVu Sans"/>
                          <a:cs typeface="DejaVu Sans"/>
                        </a:rPr>
                        <a:t>17 May 2018</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4</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+90.89%</a:t>
                      </a:r>
                    </a:p>
                  </a:txBody>
                  <a:tcPr marL="114300" marR="95250" marT="47625" marB="47625" anchor="ctr">
                    <a:solidFill>
                      <a:srgbClr val="203253"/>
                    </a:solidFill>
                  </a:tcPr>
                </a:tc>
                <a:tc>
                  <a:txBody>
                    <a:bodyPr>
                      <a:noAutofit/>
                    </a:bodyPr>
                    <a:lstStyle/>
                    <a:p>
                      <a:r>
                        <a:rPr sz="1800" b="0">
                          <a:solidFill>
                            <a:srgbClr val="FFFFFF"/>
                          </a:solidFill>
                          <a:latin typeface="DejaVu Sans"/>
                          <a:ea typeface="DejaVu Sans"/>
                          <a:cs typeface="DejaVu Sans"/>
                        </a:rPr>
                        <a:t>-34.59%</a:t>
                      </a:r>
                    </a:p>
                  </a:txBody>
                  <a:tcPr marL="114300" marR="95250" marT="47625" marB="47625" anchor="ctr">
                    <a:solidFill>
                      <a:srgbClr val="203253"/>
                    </a:solidFill>
                  </a:tcPr>
                </a:tc>
              </a:tr>
            </a:tbl>
          </a:graphicData>
        </a:graphic>
      </p:graphicFrame>
      <p:sp>
        <p:nvSpPr>
          <p:cNvPr id="6" name="text">
            <a:extLst xmlns:a="http://schemas.openxmlformats.org/drawingml/2006/main">
              <a:ext uri="{FF2B5EF4-FFF2-40B4-BE49-F238E27FC236}">
                <a16:creationId xmlns:a16="http://schemas.microsoft.com/office/drawing/2014/main" id="{F259B8B6-A739-410F-8939-31810397CE01}"/>
              </a:ext>
            </a:extLst>
          </p:cNvPr>
          <p:cNvSpPr>
            <a:spLocks xmlns:a="http://schemas.openxmlformats.org/drawingml/2006/main" noGrp="1"/>
          </p:cNvSpPr>
          <p:nvPr/>
        </p:nvSpPr>
        <p:spPr>
          <a:xfrm xmlns:a="http://schemas.openxmlformats.org/drawingml/2006/main">
            <a:off x="571500" y="694372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DejaVu Sans"/>
                <a:ea typeface="DejaVu Sans"/>
                <a:cs typeface="DejaVu Sans"/>
              </a:defRPr>
            </a:defPPr>
          </a:lstStyle>
          <a:p xmlns:a="http://schemas.openxmlformats.org/drawingml/2006/main">
            <a:pPr algn="l">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TVS and Eicher gained most overall. Their latest Sell crossings indicate later weakness.</a:t>
            </a:r>
          </a:p>
        </p:txBody>
      </p:sp>
      <p:sp>
        <p:nvSpPr>
          <p:cNvPr id="7" name="text">
            <a:extLst xmlns:a="http://schemas.openxmlformats.org/drawingml/2006/main">
              <a:ext uri="{FF2B5EF4-FFF2-40B4-BE49-F238E27FC236}">
                <a16:creationId xmlns:a16="http://schemas.microsoft.com/office/drawing/2014/main" id="{C0039C9C-F93C-427E-996A-0E33AB8F07B4}"/>
              </a:ext>
            </a:extLst>
          </p:cNvPr>
          <p:cNvSpPr>
            <a:spLocks xmlns:a="http://schemas.openxmlformats.org/drawingml/2006/main" noGrp="1"/>
          </p:cNvSpPr>
          <p:nvPr/>
        </p:nvSpPr>
        <p:spPr>
          <a:xfrm xmlns:a="http://schemas.openxmlformats.org/drawingml/2006/main">
            <a:off x="571500" y="7419975"/>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9D5EF"/>
                </a:solidFill>
                <a:latin typeface="DejaVu Sans"/>
                <a:ea typeface="DejaVu Sans"/>
                <a:cs typeface="DejaVu Sans"/>
              </a:defRPr>
            </a:defPPr>
          </a:lstStyle>
          <a:p xmlns:a="http://schemas.openxmlformats.org/drawingml/2006/main">
            <a:pPr algn="l">
              <a:defRPr sz="1725" b="0">
                <a:solidFill>
                  <a:srgbClr val="C9D5EF"/>
                </a:solidFill>
                <a:latin typeface="DejaVu Sans"/>
                <a:ea typeface="DejaVu Sans"/>
                <a:cs typeface="DejaVu Sans"/>
              </a:defRPr>
            </a:pPr>
            <a:r>
              <a:rPr sz="1725" b="0">
                <a:solidFill>
                  <a:srgbClr val="C9D5EF"/>
                </a:solidFill>
                <a:latin typeface="DejaVu Sans"/>
                <a:ea typeface="DejaVu Sans"/>
                <a:cs typeface="DejaVu Sans"/>
              </a:rPr>
              <a:t>TVS also had the deepest adjusted drawdown, −34.59%, and the highest annualized volatility, 30.80%.</a:t>
            </a:r>
          </a:p>
        </p:txBody>
      </p:sp>
      <p:sp>
        <p:nvSpPr>
          <p:cNvPr id="8" name="text">
            <a:extLst xmlns:a="http://schemas.openxmlformats.org/drawingml/2006/main">
              <a:ext uri="{FF2B5EF4-FFF2-40B4-BE49-F238E27FC236}">
                <a16:creationId xmlns:a16="http://schemas.microsoft.com/office/drawing/2014/main" id="{34C99ACA-6DC4-4F41-8A43-D488BC5560C8}"/>
              </a:ext>
            </a:extLst>
          </p:cNvPr>
          <p:cNvSpPr>
            <a:spLocks xmlns:a="http://schemas.openxmlformats.org/drawingml/2006/main" noGrp="1"/>
          </p:cNvSpPr>
          <p:nvPr/>
        </p:nvSpPr>
        <p:spPr>
          <a:xfrm xmlns:a="http://schemas.openxmlformats.org/drawingml/2006/main">
            <a:off x="571500" y="7800975"/>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C9D5EF"/>
                </a:solidFill>
                <a:latin typeface="DejaVu Sans"/>
                <a:ea typeface="DejaVu Sans"/>
                <a:cs typeface="DejaVu Sans"/>
              </a:defRPr>
            </a:defPPr>
          </a:lstStyle>
          <a:p xmlns:a="http://schemas.openxmlformats.org/drawingml/2006/main">
            <a:pPr algn="l">
              <a:defRPr sz="1500" b="0">
                <a:solidFill>
                  <a:srgbClr val="C9D5EF"/>
                </a:solidFill>
                <a:latin typeface="DejaVu Sans"/>
                <a:ea typeface="DejaVu Sans"/>
                <a:cs typeface="DejaVu Sans"/>
              </a:defRPr>
            </a:pPr>
            <a:r>
              <a:rPr sz="1500" b="0">
                <a:solidFill>
                  <a:srgbClr val="C9D5EF"/>
                </a:solidFill>
                <a:latin typeface="DejaVu Sans"/>
                <a:ea typeface="DejaVu Sans"/>
                <a:cs typeface="DejaVu Sans"/>
              </a:rPr>
              <a:t>Scenario: next observed open, INR 100,000 cash, 0.10% fee each transaction, zero slippage, final-close liquidation. Dividends and taxes excluded.</a:t>
            </a:r>
          </a:p>
        </p:txBody>
      </p:sp>
    </p:spTree>
    <p:extLst>
      <p:ext uri="{BB962C8B-B14F-4D97-AF65-F5344CB8AC3E}">
        <p14:creationId xmlns:p14="http://schemas.microsoft.com/office/powerpoint/2010/main" val="2036853905"/>
      </p:ext>
    </p:extLst>
  </p:cSld>
</p:sld>
</file>

<file path=ppt/slides/slide12.xml><?xml version="1.0" encoding="utf-8"?>
<p:sld xmlns:p="http://schemas.openxmlformats.org/presentationml/2006/main">
  <p:cSld>
    <p:bg>
      <p:bgPr>
        <a:solidFill xmlns:a="http://schemas.openxmlformats.org/drawingml/2006/main">
          <a:srgbClr val="F5F7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D9D716B-FE7C-424F-95FB-A8415B854E94}"/>
              </a:ext>
            </a:extLst>
          </p:cNvPr>
          <p:cNvSpPr>
            <a:spLocks xmlns:a="http://schemas.openxmlformats.org/drawingml/2006/main" noGrp="1"/>
          </p:cNvSpPr>
          <p:nvPr/>
        </p:nvSpPr>
        <p:spPr>
          <a:xfrm xmlns:a="http://schemas.openxmlformats.org/drawingml/2006/main">
            <a:off x="571500" y="4572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240"/>
                </a:solidFill>
                <a:latin typeface="DejaVu Sans"/>
                <a:ea typeface="DejaVu Sans"/>
                <a:cs typeface="DejaVu Sans"/>
              </a:defRPr>
            </a:defPPr>
          </a:lstStyle>
          <a:p xmlns:a="http://schemas.openxmlformats.org/drawingml/2006/main">
            <a:pPr algn="l">
              <a:defRPr sz="3450" b="1">
                <a:solidFill>
                  <a:srgbClr val="142240"/>
                </a:solidFill>
                <a:latin typeface="DejaVu Sans"/>
                <a:ea typeface="DejaVu Sans"/>
                <a:cs typeface="DejaVu Sans"/>
              </a:defRPr>
            </a:pPr>
            <a:r>
              <a:rPr sz="3450" b="1">
                <a:solidFill>
                  <a:srgbClr val="142240"/>
                </a:solidFill>
                <a:latin typeface="DejaVu Sans"/>
                <a:ea typeface="DejaVu Sans"/>
                <a:cs typeface="DejaVu Sans"/>
              </a:rPr>
              <a:t>What I learned and what I would improve</a:t>
            </a:r>
          </a:p>
        </p:txBody>
      </p:sp>
      <p:sp>
        <p:nvSpPr>
          <p:cNvPr id="2" name="text">
            <a:extLst xmlns:a="http://schemas.openxmlformats.org/drawingml/2006/main">
              <a:ext uri="{FF2B5EF4-FFF2-40B4-BE49-F238E27FC236}">
                <a16:creationId xmlns:a16="http://schemas.microsoft.com/office/drawing/2014/main" id="{D0CD3870-6B08-4731-B181-533397FA8531}"/>
              </a:ext>
            </a:extLst>
          </p:cNvPr>
          <p:cNvSpPr>
            <a:spLocks xmlns:a="http://schemas.openxmlformats.org/drawingml/2006/main" noGrp="1"/>
          </p:cNvSpPr>
          <p:nvPr/>
        </p:nvSpPr>
        <p:spPr>
          <a:xfrm xmlns:a="http://schemas.openxmlformats.org/drawingml/2006/main">
            <a:off x="571500" y="11430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The main lesson for me was to understand the calculation before drawing a conclusion from a chart.</a:t>
            </a:r>
          </a:p>
        </p:txBody>
      </p:sp>
      <p:sp>
        <p:nvSpPr>
          <p:cNvPr id="3" name="text">
            <a:extLst xmlns:a="http://schemas.openxmlformats.org/drawingml/2006/main">
              <a:ext uri="{FF2B5EF4-FFF2-40B4-BE49-F238E27FC236}">
                <a16:creationId xmlns:a16="http://schemas.microsoft.com/office/drawing/2014/main" id="{01E33268-FF16-4B8D-80EA-F53DD2E17A17}"/>
              </a:ext>
            </a:extLst>
          </p:cNvPr>
          <p:cNvSpPr>
            <a:spLocks xmlns:a="http://schemas.openxmlformats.org/drawingml/2006/main" noGrp="1"/>
          </p:cNvSpPr>
          <p:nvPr/>
        </p:nvSpPr>
        <p:spPr>
          <a:xfrm xmlns:a="http://schemas.openxmlformats.org/drawingml/2006/main">
            <a:off x="571500" y="82296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718D"/>
                </a:solidFill>
                <a:latin typeface="DejaVu Sans"/>
                <a:ea typeface="DejaVu Sans"/>
                <a:cs typeface="DejaVu Sans"/>
              </a:defRPr>
            </a:defPPr>
          </a:lstStyle>
          <a:p xmlns:a="http://schemas.openxmlformats.org/drawingml/2006/main">
            <a:pPr algn="l">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Srija Chatterjee</a:t>
            </a:r>
          </a:p>
        </p:txBody>
      </p:sp>
      <p:sp>
        <p:nvSpPr>
          <p:cNvPr id="4" name="text">
            <a:extLst xmlns:a="http://schemas.openxmlformats.org/drawingml/2006/main">
              <a:ext uri="{FF2B5EF4-FFF2-40B4-BE49-F238E27FC236}">
                <a16:creationId xmlns:a16="http://schemas.microsoft.com/office/drawing/2014/main" id="{EE46AC9E-3394-4C62-9412-EBB9B6871D50}"/>
              </a:ext>
            </a:extLst>
          </p:cNvPr>
          <p:cNvSpPr>
            <a:spLocks xmlns:a="http://schemas.openxmlformats.org/drawingml/2006/main" noGrp="1"/>
          </p:cNvSpPr>
          <p:nvPr/>
        </p:nvSpPr>
        <p:spPr>
          <a:xfrm xmlns:a="http://schemas.openxmlformats.org/drawingml/2006/main">
            <a:off x="13430250" y="822960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8D"/>
                </a:solidFill>
                <a:latin typeface="DejaVu Sans"/>
                <a:ea typeface="DejaVu Sans"/>
                <a:cs typeface="DejaVu Sans"/>
              </a:defRPr>
            </a:defPPr>
          </a:lstStyle>
          <a:p xmlns:a="http://schemas.openxmlformats.org/drawingml/2006/main">
            <a:pPr algn="r">
              <a:defRPr sz="1275" b="0">
                <a:solidFill>
                  <a:srgbClr val="60718D"/>
                </a:solidFill>
                <a:latin typeface="DejaVu Sans"/>
                <a:ea typeface="DejaVu Sans"/>
                <a:cs typeface="DejaVu Sans"/>
              </a:defRPr>
            </a:pPr>
            <a:r>
              <a:rPr sz="1275" b="0">
                <a:solidFill>
                  <a:srgbClr val="60718D"/>
                </a:solidFill>
                <a:latin typeface="DejaVu Sans"/>
                <a:ea typeface="DejaVu Sans"/>
                <a:cs typeface="DejaVu Sans"/>
              </a:rPr>
              <a:t>12 / 12</a:t>
            </a:r>
          </a:p>
        </p:txBody>
      </p:sp>
      <p:sp>
        <p:nvSpPr>
          <p:cNvPr id="5" name="text">
            <a:extLst xmlns:a="http://schemas.openxmlformats.org/drawingml/2006/main">
              <a:ext uri="{FF2B5EF4-FFF2-40B4-BE49-F238E27FC236}">
                <a16:creationId xmlns:a16="http://schemas.microsoft.com/office/drawing/2014/main" id="{1FB84F29-4D2D-4D82-AA4B-2F8DF5FA0B52}"/>
              </a:ext>
            </a:extLst>
          </p:cNvPr>
          <p:cNvSpPr>
            <a:spLocks xmlns:a="http://schemas.openxmlformats.org/drawingml/2006/main" noGrp="1"/>
          </p:cNvSpPr>
          <p:nvPr/>
        </p:nvSpPr>
        <p:spPr>
          <a:xfrm xmlns:a="http://schemas.openxmlformats.org/drawingml/2006/main">
            <a:off x="571500" y="201930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4F46E5"/>
                </a:solidFill>
                <a:latin typeface="DejaVu Sans"/>
                <a:ea typeface="DejaVu Sans"/>
                <a:cs typeface="DejaVu Sans"/>
              </a:defRPr>
            </a:defPPr>
          </a:lstStyle>
          <a:p xmlns:a="http://schemas.openxmlformats.org/drawingml/2006/main">
            <a:pPr algn="l">
              <a:defRPr sz="2550" b="1">
                <a:solidFill>
                  <a:srgbClr val="4F46E5"/>
                </a:solidFill>
                <a:latin typeface="DejaVu Sans"/>
                <a:ea typeface="DejaVu Sans"/>
                <a:cs typeface="DejaVu Sans"/>
              </a:defRPr>
            </a:pPr>
            <a:r>
              <a:rPr sz="2550" b="1">
                <a:solidFill>
                  <a:srgbClr val="4F46E5"/>
                </a:solidFill>
                <a:latin typeface="DejaVu Sans"/>
                <a:ea typeface="DejaVu Sans"/>
                <a:cs typeface="DejaVu Sans"/>
              </a:rPr>
              <a:t>What I learned</a:t>
            </a:r>
          </a:p>
        </p:txBody>
      </p:sp>
      <p:sp>
        <p:nvSpPr>
          <p:cNvPr id="6" name="text">
            <a:extLst xmlns:a="http://schemas.openxmlformats.org/drawingml/2006/main">
              <a:ext uri="{FF2B5EF4-FFF2-40B4-BE49-F238E27FC236}">
                <a16:creationId xmlns:a16="http://schemas.microsoft.com/office/drawing/2014/main" id="{D2B45721-B4D2-4E0E-9511-6C494BEFA327}"/>
              </a:ext>
            </a:extLst>
          </p:cNvPr>
          <p:cNvSpPr>
            <a:spLocks xmlns:a="http://schemas.openxmlformats.org/drawingml/2006/main" noGrp="1"/>
          </p:cNvSpPr>
          <p:nvPr/>
        </p:nvSpPr>
        <p:spPr>
          <a:xfrm xmlns:a="http://schemas.openxmlformats.org/drawingml/2006/main">
            <a:off x="571500" y="2819400"/>
            <a:ext cx="657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2240"/>
                </a:solidFill>
                <a:latin typeface="DejaVu Sans"/>
                <a:ea typeface="DejaVu Sans"/>
                <a:cs typeface="DejaVu Sans"/>
              </a:defRPr>
            </a:defPPr>
          </a:lstStyle>
          <a:p xmlns:a="http://schemas.openxmlformats.org/drawingml/2006/main">
            <a:pPr marL="228600" indent="-114300" algn="l">
              <a:spcAft>
                <a:spcPts val="1900"/>
              </a:spcAft>
              <a:buChar char="•"/>
              <a:defRPr sz="2175" b="0">
                <a:solidFill>
                  <a:srgbClr val="142240"/>
                </a:solidFill>
                <a:latin typeface="DejaVu Sans"/>
                <a:ea typeface="DejaVu Sans"/>
                <a:cs typeface="DejaVu Sans"/>
              </a:defRPr>
            </a:pPr>
            <a:r>
              <a:rPr sz="2175" b="0">
                <a:solidFill>
                  <a:srgbClr val="142240"/>
                </a:solidFill>
                <a:latin typeface="DejaVu Sans"/>
                <a:ea typeface="DejaVu Sans"/>
                <a:cs typeface="DejaVu Sans"/>
              </a:rPr>
              <a:t>I learned to use SQL windows and previous-day values without using future rows.</a:t>
            </a:r>
          </a:p>
          <a:p xmlns:a="http://schemas.openxmlformats.org/drawingml/2006/main">
            <a:pPr marL="228600" indent="-114300" algn="l">
              <a:spcAft>
                <a:spcPts val="1900"/>
              </a:spcAft>
              <a:buChar char="•"/>
              <a:defRPr sz="2175" b="0">
                <a:solidFill>
                  <a:srgbClr val="142240"/>
                </a:solidFill>
                <a:latin typeface="DejaVu Sans"/>
                <a:ea typeface="DejaVu Sans"/>
                <a:cs typeface="DejaVu Sans"/>
              </a:defRPr>
            </a:pPr>
            <a:r>
              <a:rPr sz="2175" b="0">
                <a:solidFill>
                  <a:srgbClr val="142240"/>
                </a:solidFill>
                <a:latin typeface="DejaVu Sans"/>
                <a:ea typeface="DejaVu Sans"/>
                <a:cs typeface="DejaVu Sans"/>
              </a:rPr>
              <a:t>Keeping raw and adjusted prices separate helped me explain the bonus issues.</a:t>
            </a:r>
          </a:p>
          <a:p xmlns:a="http://schemas.openxmlformats.org/drawingml/2006/main">
            <a:pPr marL="228600" indent="-114300" algn="l">
              <a:spcAft>
                <a:spcPts val="1900"/>
              </a:spcAft>
              <a:buChar char="•"/>
              <a:defRPr sz="2175" b="0">
                <a:solidFill>
                  <a:srgbClr val="142240"/>
                </a:solidFill>
                <a:latin typeface="DejaVu Sans"/>
                <a:ea typeface="DejaVu Sans"/>
                <a:cs typeface="DejaVu Sans"/>
              </a:defRPr>
            </a:pPr>
            <a:r>
              <a:rPr sz="2175" b="0">
                <a:solidFill>
                  <a:srgbClr val="142240"/>
                </a:solidFill>
                <a:latin typeface="DejaVu Sans"/>
                <a:ea typeface="DejaVu Sans"/>
                <a:cs typeface="DejaVu Sans"/>
              </a:rPr>
              <a:t>I learned to check dates, NULLs and crossing rules before trusting a result.</a:t>
            </a:r>
          </a:p>
          <a:p xmlns:a="http://schemas.openxmlformats.org/drawingml/2006/main">
            <a:pPr marL="228600" indent="-114300" algn="l">
              <a:spcAft>
                <a:spcPts val="1900"/>
              </a:spcAft>
              <a:buChar char="•"/>
              <a:defRPr sz="2175" b="0">
                <a:solidFill>
                  <a:srgbClr val="142240"/>
                </a:solidFill>
                <a:latin typeface="DejaVu Sans"/>
                <a:ea typeface="DejaVu Sans"/>
                <a:cs typeface="DejaVu Sans"/>
              </a:defRPr>
            </a:pPr>
            <a:r>
              <a:rPr sz="2175" b="0">
                <a:solidFill>
                  <a:srgbClr val="142240"/>
                </a:solidFill>
                <a:latin typeface="DejaVu Sans"/>
                <a:ea typeface="DejaVu Sans"/>
                <a:cs typeface="DejaVu Sans"/>
              </a:rPr>
              <a:t>The cost scenario showed me why a Buy signal alone cannot establish profitability.</a:t>
            </a:r>
          </a:p>
          <a:p xmlns:a="http://schemas.openxmlformats.org/drawingml/2006/main">
            <a:pPr marL="228600" indent="-114300" algn="l">
              <a:spcAft>
                <a:spcPts val="1900"/>
              </a:spcAft>
              <a:buChar char="•"/>
              <a:defRPr sz="2175" b="0">
                <a:solidFill>
                  <a:srgbClr val="142240"/>
                </a:solidFill>
                <a:latin typeface="DejaVu Sans"/>
                <a:ea typeface="DejaVu Sans"/>
                <a:cs typeface="DejaVu Sans"/>
              </a:defRPr>
            </a:pPr>
            <a:r>
              <a:rPr sz="2175" b="0">
                <a:solidFill>
                  <a:srgbClr val="142240"/>
                </a:solidFill>
                <a:latin typeface="DejaVu Sans"/>
                <a:ea typeface="DejaVu Sans"/>
                <a:cs typeface="DejaVu Sans"/>
              </a:rPr>
              <a:t>Connecting each chart to a query made the findings easier to explain.</a:t>
            </a:r>
          </a:p>
        </p:txBody>
      </p:sp>
      <p:sp>
        <p:nvSpPr>
          <p:cNvPr id="7" name="text">
            <a:extLst xmlns:a="http://schemas.openxmlformats.org/drawingml/2006/main">
              <a:ext uri="{FF2B5EF4-FFF2-40B4-BE49-F238E27FC236}">
                <a16:creationId xmlns:a16="http://schemas.microsoft.com/office/drawing/2014/main" id="{70A6CE79-54C7-4C0B-83FA-17A1EF7E850E}"/>
              </a:ext>
            </a:extLst>
          </p:cNvPr>
          <p:cNvSpPr>
            <a:spLocks xmlns:a="http://schemas.openxmlformats.org/drawingml/2006/main" noGrp="1"/>
          </p:cNvSpPr>
          <p:nvPr/>
        </p:nvSpPr>
        <p:spPr>
          <a:xfrm xmlns:a="http://schemas.openxmlformats.org/drawingml/2006/main">
            <a:off x="8096250" y="20193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D9488"/>
                </a:solidFill>
                <a:latin typeface="DejaVu Sans"/>
                <a:ea typeface="DejaVu Sans"/>
                <a:cs typeface="DejaVu Sans"/>
              </a:defRPr>
            </a:defPPr>
          </a:lstStyle>
          <a:p xmlns:a="http://schemas.openxmlformats.org/drawingml/2006/main">
            <a:pPr algn="l">
              <a:defRPr sz="2550" b="1">
                <a:solidFill>
                  <a:srgbClr val="0D9488"/>
                </a:solidFill>
                <a:latin typeface="DejaVu Sans"/>
                <a:ea typeface="DejaVu Sans"/>
                <a:cs typeface="DejaVu Sans"/>
              </a:defRPr>
            </a:pPr>
            <a:r>
              <a:rPr sz="2550" b="1">
                <a:solidFill>
                  <a:srgbClr val="0D9488"/>
                </a:solidFill>
                <a:latin typeface="DejaVu Sans"/>
                <a:ea typeface="DejaVu Sans"/>
                <a:cs typeface="DejaVu Sans"/>
              </a:rPr>
              <a:t>What I would improve next</a:t>
            </a:r>
          </a:p>
        </p:txBody>
      </p:sp>
      <p:sp>
        <p:nvSpPr>
          <p:cNvPr id="8" name="text">
            <a:extLst xmlns:a="http://schemas.openxmlformats.org/drawingml/2006/main">
              <a:ext uri="{FF2B5EF4-FFF2-40B4-BE49-F238E27FC236}">
                <a16:creationId xmlns:a16="http://schemas.microsoft.com/office/drawing/2014/main" id="{B08B2210-E2D9-4DE6-A903-A3BA50B428E0}"/>
              </a:ext>
            </a:extLst>
          </p:cNvPr>
          <p:cNvSpPr>
            <a:spLocks xmlns:a="http://schemas.openxmlformats.org/drawingml/2006/main" noGrp="1"/>
          </p:cNvSpPr>
          <p:nvPr/>
        </p:nvSpPr>
        <p:spPr>
          <a:xfrm xmlns:a="http://schemas.openxmlformats.org/drawingml/2006/main">
            <a:off x="8096250" y="2819400"/>
            <a:ext cx="657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2240"/>
                </a:solidFill>
                <a:latin typeface="DejaVu Sans"/>
                <a:ea typeface="DejaVu Sans"/>
                <a:cs typeface="DejaVu Sans"/>
              </a:defRPr>
            </a:defPPr>
          </a:lstStyle>
          <a:p xmlns:a="http://schemas.openxmlformats.org/drawingml/2006/main">
            <a:pPr marL="228600" indent="-114300" algn="l">
              <a:spcAft>
                <a:spcPts val="1900"/>
              </a:spcAft>
              <a:buChar char="•"/>
              <a:defRPr sz="2175" b="0">
                <a:solidFill>
                  <a:srgbClr val="142240"/>
                </a:solidFill>
                <a:latin typeface="DejaVu Sans"/>
                <a:ea typeface="DejaVu Sans"/>
                <a:cs typeface="DejaVu Sans"/>
              </a:defRPr>
            </a:pPr>
            <a:r>
              <a:rPr sz="2175" b="0">
                <a:solidFill>
                  <a:srgbClr val="142240"/>
                </a:solidFill>
                <a:latin typeface="DejaVu Sans"/>
                <a:ea typeface="DejaVu Sans"/>
                <a:cs typeface="DejaVu Sans"/>
              </a:rPr>
              <a:t>I would add dividends and a broad market benchmark for a fairer comparison.</a:t>
            </a:r>
          </a:p>
          <a:p xmlns:a="http://schemas.openxmlformats.org/drawingml/2006/main">
            <a:pPr marL="228600" indent="-114300" algn="l">
              <a:spcAft>
                <a:spcPts val="1900"/>
              </a:spcAft>
              <a:buChar char="•"/>
              <a:defRPr sz="2175" b="0">
                <a:solidFill>
                  <a:srgbClr val="142240"/>
                </a:solidFill>
                <a:latin typeface="DejaVu Sans"/>
                <a:ea typeface="DejaVu Sans"/>
                <a:cs typeface="DejaVu Sans"/>
              </a:defRPr>
            </a:pPr>
            <a:r>
              <a:rPr sz="2175" b="0">
                <a:solidFill>
                  <a:srgbClr val="142240"/>
                </a:solidFill>
                <a:latin typeface="DejaVu Sans"/>
                <a:ea typeface="DejaVu Sans"/>
                <a:cs typeface="DejaVu Sans"/>
              </a:rPr>
              <a:t>I would include a more complete corporate-action history.</a:t>
            </a:r>
          </a:p>
          <a:p xmlns:a="http://schemas.openxmlformats.org/drawingml/2006/main">
            <a:pPr marL="228600" indent="-114300" algn="l">
              <a:spcAft>
                <a:spcPts val="1900"/>
              </a:spcAft>
              <a:buChar char="•"/>
              <a:defRPr sz="2175" b="0">
                <a:solidFill>
                  <a:srgbClr val="142240"/>
                </a:solidFill>
                <a:latin typeface="DejaVu Sans"/>
                <a:ea typeface="DejaVu Sans"/>
                <a:cs typeface="DejaVu Sans"/>
              </a:defRPr>
            </a:pPr>
            <a:r>
              <a:rPr sz="2175" b="0">
                <a:solidFill>
                  <a:srgbClr val="142240"/>
                </a:solidFill>
                <a:latin typeface="DejaVu Sans"/>
                <a:ea typeface="DejaVu Sans"/>
                <a:cs typeface="DejaVu Sans"/>
              </a:rPr>
              <a:t>I would test other MA windows on unseen periods and compare realistic costs.</a:t>
            </a:r>
          </a:p>
          <a:p xmlns:a="http://schemas.openxmlformats.org/drawingml/2006/main">
            <a:pPr marL="228600" indent="-114300" algn="l">
              <a:spcAft>
                <a:spcPts val="1900"/>
              </a:spcAft>
              <a:buChar char="•"/>
              <a:defRPr sz="2175" b="0">
                <a:solidFill>
                  <a:srgbClr val="142240"/>
                </a:solidFill>
                <a:latin typeface="DejaVu Sans"/>
                <a:ea typeface="DejaVu Sans"/>
                <a:cs typeface="DejaVu Sans"/>
              </a:defRPr>
            </a:pPr>
            <a:r>
              <a:rPr sz="2175" b="0">
                <a:solidFill>
                  <a:srgbClr val="142240"/>
                </a:solidFill>
                <a:latin typeface="DejaVu Sans"/>
                <a:ea typeface="DejaVu Sans"/>
                <a:cs typeface="DejaVu Sans"/>
              </a:rPr>
              <a:t>I would connect fresh data and deploy the dashboard with scheduled updates.</a:t>
            </a:r>
          </a:p>
          <a:p xmlns:a="http://schemas.openxmlformats.org/drawingml/2006/main">
            <a:pPr marL="228600" indent="-114300" algn="l">
              <a:spcAft>
                <a:spcPts val="1900"/>
              </a:spcAft>
              <a:buChar char="•"/>
              <a:defRPr sz="2175" b="0">
                <a:solidFill>
                  <a:srgbClr val="142240"/>
                </a:solidFill>
                <a:latin typeface="DejaVu Sans"/>
                <a:ea typeface="DejaVu Sans"/>
                <a:cs typeface="DejaVu Sans"/>
              </a:defRPr>
            </a:pPr>
            <a:r>
              <a:rPr sz="2175" b="0">
                <a:solidFill>
                  <a:srgbClr val="142240"/>
                </a:solidFill>
                <a:latin typeface="DejaVu Sans"/>
                <a:ea typeface="DejaVu Sans"/>
                <a:cs typeface="DejaVu Sans"/>
              </a:rPr>
              <a:t>I would add custom-file validation and more accessibility options.</a:t>
            </a:r>
          </a:p>
        </p:txBody>
      </p:sp>
      <p:sp>
        <p:nvSpPr>
          <p:cNvPr id="9" name="text">
            <a:extLst xmlns:a="http://schemas.openxmlformats.org/drawingml/2006/main">
              <a:ext uri="{FF2B5EF4-FFF2-40B4-BE49-F238E27FC236}">
                <a16:creationId xmlns:a16="http://schemas.microsoft.com/office/drawing/2014/main" id="{0D59A062-9E74-44D3-A3B9-66749D21799B}"/>
              </a:ext>
            </a:extLst>
          </p:cNvPr>
          <p:cNvSpPr>
            <a:spLocks xmlns:a="http://schemas.openxmlformats.org/drawingml/2006/main" noGrp="1"/>
          </p:cNvSpPr>
          <p:nvPr/>
        </p:nvSpPr>
        <p:spPr>
          <a:xfrm xmlns:a="http://schemas.openxmlformats.org/drawingml/2006/main">
            <a:off x="571500" y="766762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18D"/>
                </a:solidFill>
                <a:latin typeface="DejaVu Sans"/>
                <a:ea typeface="DejaVu Sans"/>
                <a:cs typeface="DejaVu Sans"/>
              </a:defRPr>
            </a:defPPr>
          </a:lstStyle>
          <a:p xmlns:a="http://schemas.openxmlformats.org/drawingml/2006/main">
            <a:pPr algn="l">
              <a:defRPr sz="1875" b="0">
                <a:solidFill>
                  <a:srgbClr val="60718D"/>
                </a:solidFill>
                <a:latin typeface="DejaVu Sans"/>
                <a:ea typeface="DejaVu Sans"/>
                <a:cs typeface="DejaVu Sans"/>
              </a:defRPr>
            </a:pPr>
            <a:r>
              <a:rPr sz="1875" b="0">
                <a:solidFill>
                  <a:srgbClr val="60718D"/>
                </a:solidFill>
                <a:latin typeface="DejaVu Sans"/>
                <a:ea typeface="DejaVu Sans"/>
                <a:cs typeface="DejaVu Sans"/>
              </a:rPr>
              <a:t>For this version, my conclusions stay within the six supplied stocks and the 2015-2018 period.</a:t>
            </a:r>
          </a:p>
        </p:txBody>
      </p:sp>
    </p:spTree>
    <p:extLst>
      <p:ext uri="{BB962C8B-B14F-4D97-AF65-F5344CB8AC3E}">
        <p14:creationId xmlns:p14="http://schemas.microsoft.com/office/powerpoint/2010/main" val="1730039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2026-10-10T02:00:29.1760000Z</dcterms:created>
  <dcterms:modified xsi:type="dcterms:W3CDTF">2026-10-10T02:00:29.1760000Z</dcterms:modified>
</coreProperties>
</file>